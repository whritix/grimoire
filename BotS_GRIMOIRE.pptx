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Calibri (MS)" panose="020B0604020202020204" charset="0"/>
      <p:regular r:id="rId12"/>
    </p:embeddedFont>
    <p:embeddedFont>
      <p:font typeface="Georgia Pro" panose="02040502050405020303" pitchFamily="18" charset="0"/>
      <p:regular r:id="rId13"/>
    </p:embeddedFont>
    <p:embeddedFont>
      <p:font typeface="Poppins Bold" panose="020B0604020202020204" charset="0"/>
      <p:regular r:id="rId14"/>
    </p:embeddedFont>
    <p:embeddedFont>
      <p:font typeface="Tahoma" panose="020B0604030504040204" pitchFamily="34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10091754" y="3915665"/>
            <a:ext cx="7869354" cy="4953344"/>
          </a:xfrm>
          <a:custGeom>
            <a:avLst/>
            <a:gdLst/>
            <a:ahLst/>
            <a:cxnLst/>
            <a:rect l="l" t="t" r="r" b="b"/>
            <a:pathLst>
              <a:path w="7869354" h="4953344">
                <a:moveTo>
                  <a:pt x="0" y="0"/>
                </a:moveTo>
                <a:lnTo>
                  <a:pt x="7869354" y="0"/>
                </a:lnTo>
                <a:lnTo>
                  <a:pt x="7869354" y="4953344"/>
                </a:lnTo>
                <a:lnTo>
                  <a:pt x="0" y="4953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148"/>
            </a:stretch>
          </a:blipFill>
        </p:spPr>
        <p:txBody>
          <a:bodyPr/>
          <a:p/>
        </p:txBody>
      </p:sp>
      <p:grpSp>
        <p:nvGrpSpPr>
          <p:cNvPr id="4" name="Group 4"/>
          <p:cNvGrpSpPr/>
          <p:nvPr/>
        </p:nvGrpSpPr>
        <p:grpSpPr>
          <a:xfrm>
            <a:off x="3437242" y="128016"/>
            <a:ext cx="11413517" cy="900684"/>
            <a:chOff x="0" y="0"/>
            <a:chExt cx="15218022" cy="120091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9" name="Freeform 9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0" name="Freeform 10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1" name="Group 11"/>
          <p:cNvGrpSpPr/>
          <p:nvPr/>
        </p:nvGrpSpPr>
        <p:grpSpPr>
          <a:xfrm>
            <a:off x="192913" y="4187777"/>
            <a:ext cx="9323175" cy="2251414"/>
            <a:chOff x="0" y="0"/>
            <a:chExt cx="12430900" cy="300188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2430900" cy="629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6"/>
                </a:lnSpc>
              </a:pPr>
              <a:r>
                <a:rPr lang="en-US" sz="3147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for Career Development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88893"/>
              <a:ext cx="12430900" cy="106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4"/>
                </a:lnSpc>
              </a:pPr>
              <a:r>
                <a:rPr lang="en-US" sz="5245" spc="78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GRIMOIRE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230361"/>
              <a:ext cx="12430900" cy="77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6"/>
                </a:lnSpc>
              </a:pPr>
              <a:r>
                <a:rPr lang="en-US" sz="3796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Learn. Interview. Get Hired.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-1718238" y="7532138"/>
            <a:ext cx="12755697" cy="1336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</a:pPr>
            <a:r>
              <a:rPr lang="en-US" sz="4456" spc="-35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Team BotS</a:t>
            </a:r>
          </a:p>
          <a:p>
            <a:pPr algn="ctr">
              <a:lnSpc>
                <a:spcPts val="5347"/>
              </a:lnSpc>
            </a:pPr>
            <a:r>
              <a:rPr lang="en-US" sz="4456" spc="-35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Team Leader: Aditya Bajantri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7634" y="2547848"/>
            <a:ext cx="11850916" cy="54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5"/>
              </a:lnSpc>
              <a:spcBef>
                <a:spcPct val="0"/>
              </a:spcBef>
            </a:pPr>
            <a:r>
              <a:rPr lang="en-US" sz="303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Information Technology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89866" y="1859790"/>
            <a:ext cx="12766452" cy="63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953"/>
              </a:lnSpc>
              <a:spcBef>
                <a:spcPct val="0"/>
              </a:spcBef>
            </a:pPr>
            <a:r>
              <a:rPr lang="en-US" sz="35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Acropolis Institute of Technology and Research, Indore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11369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01" name="Text 501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GRIMOIRE: Autonomous AI Career Platform</a:t>
            </a:r>
          </a:p>
        </p:txBody>
      </p:sp>
      <p:sp>
        <p:nvSpPr>
          <p:cNvPr id="502" name="Card 502"/>
          <p:cNvSpPr/>
          <p:nvPr/>
        </p:nvSpPr>
        <p:spPr>
          <a:xfrm>
            <a:off x="800000" y="2450000"/>
            <a:ext cx="5366666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03" name="CardHead 503"/>
          <p:cNvSpPr/>
          <p:nvPr/>
        </p:nvSpPr>
        <p:spPr>
          <a:xfrm>
            <a:off x="800000" y="2450000"/>
            <a:ext cx="5366666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Proposed Solution</a:t>
            </a:r>
          </a:p>
        </p:txBody>
      </p:sp>
      <p:sp>
        <p:nvSpPr>
          <p:cNvPr id="504" name="Text 504"/>
          <p:cNvSpPr txBox="1"/>
          <p:nvPr/>
        </p:nvSpPr>
        <p:spPr>
          <a:xfrm>
            <a:off x="970000" y="3220000"/>
            <a:ext cx="5026666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AI career coach from skill gap to job offer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Diagnoses gaps with a smart test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Builds a week-by-week roadmap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Voice mock interviews with live code review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Webcam feedback on posture and eye contact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Tamper-proof badges and a public portfolio</a:t>
            </a:r>
          </a:p>
        </p:txBody>
      </p:sp>
      <p:sp>
        <p:nvSpPr>
          <p:cNvPr id="505" name="Card 505"/>
          <p:cNvSpPr/>
          <p:nvPr/>
        </p:nvSpPr>
        <p:spPr>
          <a:xfrm>
            <a:off x="6466666" y="2450000"/>
            <a:ext cx="5366666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06" name="CardHead 506"/>
          <p:cNvSpPr/>
          <p:nvPr/>
        </p:nvSpPr>
        <p:spPr>
          <a:xfrm>
            <a:off x="6466666" y="2450000"/>
            <a:ext cx="5366666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How It Addresses the Problem</a:t>
            </a:r>
          </a:p>
        </p:txBody>
      </p:sp>
      <p:sp>
        <p:nvSpPr>
          <p:cNvPr id="507" name="Text 507"/>
          <p:cNvSpPr txBox="1"/>
          <p:nvPr/>
        </p:nvSpPr>
        <p:spPr>
          <a:xfrm>
            <a:off x="6636666" y="3220000"/>
            <a:ext cx="5026666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Problem: students finish courses but freeze in interviews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Human mock interviews cost ₹3,000+ per hour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GRIMOIRE practises the real interview, voice plus code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Roadmap adapts when scores drop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Verified proof of work replaces keyword resumes</a:t>
            </a:r>
          </a:p>
        </p:txBody>
      </p:sp>
      <p:sp>
        <p:nvSpPr>
          <p:cNvPr id="508" name="Card 508"/>
          <p:cNvSpPr/>
          <p:nvPr/>
        </p:nvSpPr>
        <p:spPr>
          <a:xfrm>
            <a:off x="12133332" y="2450000"/>
            <a:ext cx="5366666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09" name="CardHead 509"/>
          <p:cNvSpPr/>
          <p:nvPr/>
        </p:nvSpPr>
        <p:spPr>
          <a:xfrm>
            <a:off x="12133332" y="2450000"/>
            <a:ext cx="5366666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Innovation and Uniqueness</a:t>
            </a:r>
          </a:p>
        </p:txBody>
      </p:sp>
      <p:sp>
        <p:nvSpPr>
          <p:cNvPr id="510" name="Text 510"/>
          <p:cNvSpPr txBox="1"/>
          <p:nvPr/>
        </p:nvSpPr>
        <p:spPr>
          <a:xfrm>
            <a:off x="12303332" y="3220000"/>
            <a:ext cx="5026666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One platform: learn, practise, get verified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Multimodal: voice, vision and code together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Ed25519-signed credentials employers can trust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Link-checked learning resources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Working prototype already built</a:t>
            </a:r>
          </a:p>
        </p:txBody>
      </p:sp>
      <p:sp>
        <p:nvSpPr>
          <p:cNvPr id="511" name="Banner 511"/>
          <p:cNvSpPr/>
          <p:nvPr/>
        </p:nvSpPr>
        <p:spPr>
          <a:xfrm>
            <a:off x="800000" y="7950000"/>
            <a:ext cx="16700000" cy="120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100000" tIns="100000" rIns="100000" bIns="10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Students don't fail from lack of knowledge. They fail from lack of practice under pressure.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9479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12" name="Text 512"/>
          <p:cNvSpPr txBox="1"/>
          <p:nvPr/>
        </p:nvSpPr>
        <p:spPr>
          <a:xfrm>
            <a:off x="900000" y="1150000"/>
            <a:ext cx="165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TECHNICAL APPROACH</a:t>
            </a:r>
          </a:p>
        </p:txBody>
      </p:sp>
      <p:sp>
        <p:nvSpPr>
          <p:cNvPr id="513" name="Text 513"/>
          <p:cNvSpPr txBox="1"/>
          <p:nvPr/>
        </p:nvSpPr>
        <p:spPr>
          <a:xfrm>
            <a:off x="800000" y="2050000"/>
            <a:ext cx="80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F497D"/>
                </a:solidFill>
                <a:latin typeface="Arial"/>
                <a:cs typeface="Arial"/>
              </a:rPr>
              <a:t>Technologies Used</a:t>
            </a:r>
          </a:p>
        </p:txBody>
      </p:sp>
      <p:sp>
        <p:nvSpPr>
          <p:cNvPr id="514" name="TechHead 514"/>
          <p:cNvSpPr/>
          <p:nvPr/>
        </p:nvSpPr>
        <p:spPr>
          <a:xfrm>
            <a:off x="800000" y="2550000"/>
            <a:ext cx="3180000" cy="48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515" name="TechBody 515"/>
          <p:cNvSpPr/>
          <p:nvPr/>
        </p:nvSpPr>
        <p:spPr>
          <a:xfrm>
            <a:off x="800000" y="3030000"/>
            <a:ext cx="318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Arial"/>
                <a:cs typeface="Arial"/>
              </a:rPr>
              <a:t>Next.js, React, TypeScript, Tailwind</a:t>
            </a:r>
          </a:p>
        </p:txBody>
      </p:sp>
      <p:sp>
        <p:nvSpPr>
          <p:cNvPr id="516" name="TechHead 516"/>
          <p:cNvSpPr/>
          <p:nvPr/>
        </p:nvSpPr>
        <p:spPr>
          <a:xfrm>
            <a:off x="4180000" y="2550000"/>
            <a:ext cx="3180000" cy="48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517" name="TechBody 517"/>
          <p:cNvSpPr/>
          <p:nvPr/>
        </p:nvSpPr>
        <p:spPr>
          <a:xfrm>
            <a:off x="4180000" y="3030000"/>
            <a:ext cx="318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Arial"/>
                <a:cs typeface="Arial"/>
              </a:rPr>
              <a:t>Python, FastAPI, WebSockets</a:t>
            </a:r>
          </a:p>
        </p:txBody>
      </p:sp>
      <p:sp>
        <p:nvSpPr>
          <p:cNvPr id="518" name="TechHead 518"/>
          <p:cNvSpPr/>
          <p:nvPr/>
        </p:nvSpPr>
        <p:spPr>
          <a:xfrm>
            <a:off x="7560000" y="2550000"/>
            <a:ext cx="3180000" cy="48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AI / LLM</a:t>
            </a:r>
          </a:p>
        </p:txBody>
      </p:sp>
      <p:sp>
        <p:nvSpPr>
          <p:cNvPr id="519" name="TechBody 519"/>
          <p:cNvSpPr/>
          <p:nvPr/>
        </p:nvSpPr>
        <p:spPr>
          <a:xfrm>
            <a:off x="7560000" y="3030000"/>
            <a:ext cx="318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Arial"/>
                <a:cs typeface="Arial"/>
              </a:rPr>
              <a:t>Groq (Llama 3), Gemini, Ollama</a:t>
            </a:r>
          </a:p>
        </p:txBody>
      </p:sp>
      <p:sp>
        <p:nvSpPr>
          <p:cNvPr id="520" name="TechHead 520"/>
          <p:cNvSpPr/>
          <p:nvPr/>
        </p:nvSpPr>
        <p:spPr>
          <a:xfrm>
            <a:off x="10940000" y="2550000"/>
            <a:ext cx="3180000" cy="48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Vision &amp; Speech</a:t>
            </a:r>
          </a:p>
        </p:txBody>
      </p:sp>
      <p:sp>
        <p:nvSpPr>
          <p:cNvPr id="521" name="TechBody 521"/>
          <p:cNvSpPr/>
          <p:nvPr/>
        </p:nvSpPr>
        <p:spPr>
          <a:xfrm>
            <a:off x="10940000" y="3030000"/>
            <a:ext cx="318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Arial"/>
                <a:cs typeface="Arial"/>
              </a:rPr>
              <a:t>MediaPipe, OpenCV, Web Speech API</a:t>
            </a:r>
          </a:p>
        </p:txBody>
      </p:sp>
      <p:sp>
        <p:nvSpPr>
          <p:cNvPr id="522" name="TechHead 522"/>
          <p:cNvSpPr/>
          <p:nvPr/>
        </p:nvSpPr>
        <p:spPr>
          <a:xfrm>
            <a:off x="14320000" y="2550000"/>
            <a:ext cx="3180000" cy="48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523" name="TechBody 523"/>
          <p:cNvSpPr/>
          <p:nvPr/>
        </p:nvSpPr>
        <p:spPr>
          <a:xfrm>
            <a:off x="14320000" y="3030000"/>
            <a:ext cx="318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Arial"/>
                <a:cs typeface="Arial"/>
              </a:rPr>
              <a:t>ChromaDB, Redis, Firestore, PostgreSQL</a:t>
            </a:r>
          </a:p>
        </p:txBody>
      </p:sp>
      <p:sp>
        <p:nvSpPr>
          <p:cNvPr id="524" name="Text 524"/>
          <p:cNvSpPr txBox="1"/>
          <p:nvPr/>
        </p:nvSpPr>
        <p:spPr>
          <a:xfrm>
            <a:off x="800000" y="4450000"/>
            <a:ext cx="84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F497D"/>
                </a:solidFill>
                <a:latin typeface="Arial"/>
                <a:cs typeface="Arial"/>
              </a:rPr>
              <a:t>Methodology: Student Journey</a:t>
            </a:r>
          </a:p>
        </p:txBody>
      </p:sp>
      <p:sp>
        <p:nvSpPr>
          <p:cNvPr id="525" name="Step 525"/>
          <p:cNvSpPr/>
          <p:nvPr/>
        </p:nvSpPr>
        <p:spPr>
          <a:xfrm>
            <a:off x="800000" y="5000000"/>
            <a:ext cx="8400000" cy="65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sz="1800">
                <a:solidFill>
                  <a:srgbClr val="FFFFFF"/>
                </a:solidFill>
              </a:rPr>
              <a:t>1. Diagnostic Assessment: </a:t>
            </a:r>
            <a:r>
              <a:rPr b="0" sz="1600">
                <a:solidFill>
                  <a:srgbClr val="EAF2F8"/>
                </a:solidFill>
              </a:rPr>
              <a:t>Skill-gap test &amp; personalized baseline score</a:t>
            </a:r>
          </a:p>
        </p:txBody>
      </p:sp>
      <p:sp>
        <p:nvSpPr>
          <p:cNvPr id="527" name="Step 527"/>
          <p:cNvSpPr/>
          <p:nvPr/>
        </p:nvSpPr>
        <p:spPr>
          <a:xfrm>
            <a:off x="800000" y="5860000"/>
            <a:ext cx="8400000" cy="65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sz="1800">
                <a:solidFill>
                  <a:srgbClr val="FFFFFF"/>
                </a:solidFill>
              </a:rPr>
              <a:t>2. Adaptive Learning Plan: </a:t>
            </a:r>
            <a:r>
              <a:rPr b="0" sz="1600">
                <a:solidFill>
                  <a:srgbClr val="EAF2F8"/>
                </a:solidFill>
              </a:rPr>
              <a:t>AI-curated roadmap with live resource verification</a:t>
            </a:r>
          </a:p>
        </p:txBody>
      </p:sp>
      <p:sp>
        <p:nvSpPr>
          <p:cNvPr id="529" name="Step 529"/>
          <p:cNvSpPr/>
          <p:nvPr/>
        </p:nvSpPr>
        <p:spPr>
          <a:xfrm>
            <a:off x="800000" y="6720000"/>
            <a:ext cx="8400000" cy="65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sz="1800">
                <a:solidFill>
                  <a:srgbClr val="FFFFFF"/>
                </a:solidFill>
              </a:rPr>
              <a:t>3. Contextual Doubt Solver: </a:t>
            </a:r>
            <a:r>
              <a:rPr b="0" sz="1600">
                <a:solidFill>
                  <a:srgbClr val="EAF2F8"/>
                </a:solidFill>
              </a:rPr>
              <a:t>Multi-modal AI assistant for voice &amp; code queries</a:t>
            </a:r>
          </a:p>
        </p:txBody>
      </p:sp>
      <p:sp>
        <p:nvSpPr>
          <p:cNvPr id="531" name="Step 531"/>
          <p:cNvSpPr/>
          <p:nvPr/>
        </p:nvSpPr>
        <p:spPr>
          <a:xfrm>
            <a:off x="800000" y="7580000"/>
            <a:ext cx="8400000" cy="650000"/>
          </a:xfrm>
          <a:prstGeom prst="roundRect">
            <a:avLst>
              <a:gd name="adj" fmla="val 6000"/>
            </a:avLst>
          </a:prstGeom>
          <a:solidFill>
            <a:srgbClr val="00508A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sz="1800">
                <a:solidFill>
                  <a:srgbClr val="FFFFFF"/>
                </a:solidFill>
              </a:rPr>
              <a:t>4. Multimodal Mock Interview: </a:t>
            </a:r>
            <a:r>
              <a:rPr b="0" sz="1600">
                <a:solidFill>
                  <a:srgbClr val="EAF2F8"/>
                </a:solidFill>
              </a:rPr>
              <a:t>Real-time voice STT/TTS, vision posture &amp; coding simulator</a:t>
            </a:r>
          </a:p>
        </p:txBody>
      </p:sp>
      <p:sp>
        <p:nvSpPr>
          <p:cNvPr id="533" name="Step 533"/>
          <p:cNvSpPr/>
          <p:nvPr/>
        </p:nvSpPr>
        <p:spPr>
          <a:xfrm>
            <a:off x="800000" y="8440000"/>
            <a:ext cx="8400000" cy="65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sz="1800">
                <a:solidFill>
                  <a:srgbClr val="FFFFFF"/>
                </a:solidFill>
              </a:rPr>
              <a:t>5. Verifiable Credential: </a:t>
            </a:r>
            <a:r>
              <a:rPr b="0" sz="1600">
                <a:solidFill>
                  <a:srgbClr val="EAF2F8"/>
                </a:solidFill>
              </a:rPr>
              <a:t>Ed25519 tamper-proof digital cryptographic badge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9700000" y="4450000"/>
            <a:ext cx="78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4F72"/>
                </a:solidFill>
              </a:rPr>
              <a:t>Working Prototype: Step 4 (AI Mock Interview Room)</a:t>
            </a:r>
          </a:p>
        </p:txBody>
      </p:sp>
      <p:pic>
        <p:nvPicPr>
          <p:cNvPr id="540" name="Picture 539" descr="gautam_variant_fram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0000" y="5000000"/>
            <a:ext cx="7800000" cy="4069282"/>
          </a:xfrm>
          <a:prstGeom prst="rect">
            <a:avLst/>
          </a:prstGeom>
        </p:spPr>
      </p:pic>
      <p:sp>
        <p:nvSpPr>
          <p:cNvPr id="541" name="Down Arrow 540"/>
          <p:cNvSpPr/>
          <p:nvPr/>
        </p:nvSpPr>
        <p:spPr>
          <a:xfrm>
            <a:off x="4880000" y="5672500"/>
            <a:ext cx="240000" cy="165000"/>
          </a:xfrm>
          <a:prstGeom prst="downArrow">
            <a:avLst/>
          </a:prstGeom>
          <a:solidFill>
            <a:srgbClr val="00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Down Arrow 541"/>
          <p:cNvSpPr/>
          <p:nvPr/>
        </p:nvSpPr>
        <p:spPr>
          <a:xfrm>
            <a:off x="4880000" y="6532500"/>
            <a:ext cx="240000" cy="165000"/>
          </a:xfrm>
          <a:prstGeom prst="downArrow">
            <a:avLst/>
          </a:prstGeom>
          <a:solidFill>
            <a:srgbClr val="00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Down Arrow 542"/>
          <p:cNvSpPr/>
          <p:nvPr/>
        </p:nvSpPr>
        <p:spPr>
          <a:xfrm>
            <a:off x="4880000" y="7392500"/>
            <a:ext cx="240000" cy="165000"/>
          </a:xfrm>
          <a:prstGeom prst="downArrow">
            <a:avLst/>
          </a:prstGeom>
          <a:solidFill>
            <a:srgbClr val="00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Down Arrow 543"/>
          <p:cNvSpPr/>
          <p:nvPr/>
        </p:nvSpPr>
        <p:spPr>
          <a:xfrm>
            <a:off x="4880000" y="8252500"/>
            <a:ext cx="240000" cy="165000"/>
          </a:xfrm>
          <a:prstGeom prst="downArrow">
            <a:avLst/>
          </a:prstGeom>
          <a:solidFill>
            <a:srgbClr val="00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34" name="Text 534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535" name="Card 535"/>
          <p:cNvSpPr/>
          <p:nvPr/>
        </p:nvSpPr>
        <p:spPr>
          <a:xfrm>
            <a:off x="800000" y="2450000"/>
            <a:ext cx="5200000" cy="6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36" name="CardHead 536"/>
          <p:cNvSpPr/>
          <p:nvPr/>
        </p:nvSpPr>
        <p:spPr>
          <a:xfrm>
            <a:off x="800000" y="2450000"/>
            <a:ext cx="520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Feasibility</a:t>
            </a:r>
          </a:p>
        </p:txBody>
      </p:sp>
      <p:sp>
        <p:nvSpPr>
          <p:cNvPr id="537" name="Text 537"/>
          <p:cNvSpPr txBox="1"/>
          <p:nvPr/>
        </p:nvSpPr>
        <p:spPr>
          <a:xfrm>
            <a:off x="970000" y="3220000"/>
            <a:ext cx="4860000" cy="58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Full-stack prototype already working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Built on open-source tools and free-tier AI APIs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Estimated cost under ₹5 per session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Scales through campus training cells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Modular agents: each can be upgraded alone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Plan: pilot in colleges, then scale</a:t>
            </a:r>
          </a:p>
        </p:txBody>
      </p:sp>
      <p:sp>
        <p:nvSpPr>
          <p:cNvPr id="538" name="H 538"/>
          <p:cNvSpPr/>
          <p:nvPr/>
        </p:nvSpPr>
        <p:spPr>
          <a:xfrm>
            <a:off x="630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Challenges and Risks</a:t>
            </a:r>
          </a:p>
        </p:txBody>
      </p:sp>
      <p:sp>
        <p:nvSpPr>
          <p:cNvPr id="539" name="H 539"/>
          <p:cNvSpPr/>
          <p:nvPr/>
        </p:nvSpPr>
        <p:spPr>
          <a:xfrm>
            <a:off x="1205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Strategies to Overcome</a:t>
            </a:r>
          </a:p>
        </p:txBody>
      </p:sp>
      <p:sp>
        <p:nvSpPr>
          <p:cNvPr id="540" name="Risk 540"/>
          <p:cNvSpPr/>
          <p:nvPr/>
        </p:nvSpPr>
        <p:spPr>
          <a:xfrm>
            <a:off x="6300000" y="322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AI API limits and cost</a:t>
            </a:r>
          </a:p>
        </p:txBody>
      </p:sp>
      <p:sp>
        <p:nvSpPr>
          <p:cNvPr id="541" name="Fix 541"/>
          <p:cNvSpPr/>
          <p:nvPr/>
        </p:nvSpPr>
        <p:spPr>
          <a:xfrm>
            <a:off x="12050000" y="322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Multi-model failover: Groq, Gemini, local Ollama</a:t>
            </a:r>
          </a:p>
        </p:txBody>
      </p:sp>
      <p:sp>
        <p:nvSpPr>
          <p:cNvPr id="542" name="Arrow 542"/>
          <p:cNvSpPr/>
          <p:nvPr/>
        </p:nvSpPr>
        <p:spPr>
          <a:xfrm>
            <a:off x="11780000" y="381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43" name="Risk 543"/>
          <p:cNvSpPr/>
          <p:nvPr/>
        </p:nvSpPr>
        <p:spPr>
          <a:xfrm>
            <a:off x="6300000" y="481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Webcam privacy</a:t>
            </a:r>
          </a:p>
        </p:txBody>
      </p:sp>
      <p:sp>
        <p:nvSpPr>
          <p:cNvPr id="544" name="Fix 544"/>
          <p:cNvSpPr/>
          <p:nvPr/>
        </p:nvSpPr>
        <p:spPr>
          <a:xfrm>
            <a:off x="12050000" y="481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Consent first. Only posture and eye-contact scores are used</a:t>
            </a:r>
          </a:p>
        </p:txBody>
      </p:sp>
      <p:sp>
        <p:nvSpPr>
          <p:cNvPr id="545" name="Arrow 545"/>
          <p:cNvSpPr/>
          <p:nvPr/>
        </p:nvSpPr>
        <p:spPr>
          <a:xfrm>
            <a:off x="11780000" y="540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46" name="Risk 546"/>
          <p:cNvSpPr/>
          <p:nvPr/>
        </p:nvSpPr>
        <p:spPr>
          <a:xfrm>
            <a:off x="6300000" y="640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Wrong or dead study links</a:t>
            </a:r>
          </a:p>
        </p:txBody>
      </p:sp>
      <p:sp>
        <p:nvSpPr>
          <p:cNvPr id="547" name="Fix 547"/>
          <p:cNvSpPr/>
          <p:nvPr/>
        </p:nvSpPr>
        <p:spPr>
          <a:xfrm>
            <a:off x="12050000" y="640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Deterministic search plus link checks</a:t>
            </a:r>
          </a:p>
        </p:txBody>
      </p:sp>
      <p:sp>
        <p:nvSpPr>
          <p:cNvPr id="548" name="Arrow 548"/>
          <p:cNvSpPr/>
          <p:nvPr/>
        </p:nvSpPr>
        <p:spPr>
          <a:xfrm>
            <a:off x="11780000" y="699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49" name="Risk 549"/>
          <p:cNvSpPr/>
          <p:nvPr/>
        </p:nvSpPr>
        <p:spPr>
          <a:xfrm>
            <a:off x="6300000" y="799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Weak internet in Tier-2/3 colleges</a:t>
            </a:r>
          </a:p>
        </p:txBody>
      </p:sp>
      <p:sp>
        <p:nvSpPr>
          <p:cNvPr id="550" name="Fix 550"/>
          <p:cNvSpPr/>
          <p:nvPr/>
        </p:nvSpPr>
        <p:spPr>
          <a:xfrm>
            <a:off x="12050000" y="799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Offline fallback and browser-based speech</a:t>
            </a:r>
          </a:p>
        </p:txBody>
      </p:sp>
      <p:sp>
        <p:nvSpPr>
          <p:cNvPr id="551" name="Arrow 551"/>
          <p:cNvSpPr/>
          <p:nvPr/>
        </p:nvSpPr>
        <p:spPr>
          <a:xfrm>
            <a:off x="11780000" y="858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52" name="Text 552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IMPACT AND BENEFITS</a:t>
            </a:r>
          </a:p>
        </p:txBody>
      </p:sp>
      <p:sp>
        <p:nvSpPr>
          <p:cNvPr id="553" name="Card 553"/>
          <p:cNvSpPr/>
          <p:nvPr/>
        </p:nvSpPr>
        <p:spPr>
          <a:xfrm>
            <a:off x="800000" y="2450000"/>
            <a:ext cx="5200000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54" name="CardHead 554"/>
          <p:cNvSpPr/>
          <p:nvPr/>
        </p:nvSpPr>
        <p:spPr>
          <a:xfrm>
            <a:off x="800000" y="2450000"/>
            <a:ext cx="5200000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Target Audience</a:t>
            </a:r>
          </a:p>
        </p:txBody>
      </p:sp>
      <p:sp>
        <p:nvSpPr>
          <p:cNvPr id="555" name="Text 555"/>
          <p:cNvSpPr txBox="1"/>
          <p:nvPr/>
        </p:nvSpPr>
        <p:spPr>
          <a:xfrm>
            <a:off x="970000" y="3220000"/>
            <a:ext cx="4860000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Engineering and STEM students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Tier-2 and Tier-3 colleges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Training and placement cells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Recruiters who want proof of skills</a:t>
            </a:r>
          </a:p>
        </p:txBody>
      </p:sp>
      <p:sp>
        <p:nvSpPr>
          <p:cNvPr id="556" name="Card 556"/>
          <p:cNvSpPr/>
          <p:nvPr/>
        </p:nvSpPr>
        <p:spPr>
          <a:xfrm>
            <a:off x="6300000" y="24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57" name="CardHead 557"/>
          <p:cNvSpPr/>
          <p:nvPr/>
        </p:nvSpPr>
        <p:spPr>
          <a:xfrm>
            <a:off x="630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Social</a:t>
            </a:r>
          </a:p>
        </p:txBody>
      </p:sp>
      <p:sp>
        <p:nvSpPr>
          <p:cNvPr id="558" name="Text 558"/>
          <p:cNvSpPr txBox="1"/>
          <p:nvPr/>
        </p:nvSpPr>
        <p:spPr>
          <a:xfrm>
            <a:off x="6470000" y="32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Mentoring for students who cannot afford it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More confidence before real interviews</a:t>
            </a:r>
          </a:p>
        </p:txBody>
      </p:sp>
      <p:sp>
        <p:nvSpPr>
          <p:cNvPr id="559" name="Card 559"/>
          <p:cNvSpPr/>
          <p:nvPr/>
        </p:nvSpPr>
        <p:spPr>
          <a:xfrm>
            <a:off x="12050000" y="24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60" name="CardHead 560"/>
          <p:cNvSpPr/>
          <p:nvPr/>
        </p:nvSpPr>
        <p:spPr>
          <a:xfrm>
            <a:off x="1205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Economic</a:t>
            </a:r>
          </a:p>
        </p:txBody>
      </p:sp>
      <p:sp>
        <p:nvSpPr>
          <p:cNvPr id="561" name="Text 561"/>
          <p:cNvSpPr txBox="1"/>
          <p:nvPr/>
        </p:nvSpPr>
        <p:spPr>
          <a:xfrm>
            <a:off x="12220000" y="32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About ₹5 per session vs ₹3,000+ per hour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Faster, better-matched hiring</a:t>
            </a:r>
          </a:p>
        </p:txBody>
      </p:sp>
      <p:sp>
        <p:nvSpPr>
          <p:cNvPr id="562" name="Card 562"/>
          <p:cNvSpPr/>
          <p:nvPr/>
        </p:nvSpPr>
        <p:spPr>
          <a:xfrm>
            <a:off x="6300000" y="52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63" name="CardHead 563"/>
          <p:cNvSpPr/>
          <p:nvPr/>
        </p:nvSpPr>
        <p:spPr>
          <a:xfrm>
            <a:off x="6300000" y="52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Institutional</a:t>
            </a:r>
          </a:p>
        </p:txBody>
      </p:sp>
      <p:sp>
        <p:nvSpPr>
          <p:cNvPr id="564" name="Text 564"/>
          <p:cNvSpPr txBox="1"/>
          <p:nvPr/>
        </p:nvSpPr>
        <p:spPr>
          <a:xfrm>
            <a:off x="6470000" y="60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Standard placement training without outside agencies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Progress data for colleges</a:t>
            </a:r>
          </a:p>
        </p:txBody>
      </p:sp>
      <p:sp>
        <p:nvSpPr>
          <p:cNvPr id="565" name="Card 565"/>
          <p:cNvSpPr/>
          <p:nvPr/>
        </p:nvSpPr>
        <p:spPr>
          <a:xfrm>
            <a:off x="12050000" y="52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66" name="CardHead 566"/>
          <p:cNvSpPr/>
          <p:nvPr/>
        </p:nvSpPr>
        <p:spPr>
          <a:xfrm>
            <a:off x="12050000" y="52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Environmental</a:t>
            </a:r>
          </a:p>
        </p:txBody>
      </p:sp>
      <p:sp>
        <p:nvSpPr>
          <p:cNvPr id="567" name="Text 567"/>
          <p:cNvSpPr txBox="1"/>
          <p:nvPr/>
        </p:nvSpPr>
        <p:spPr>
          <a:xfrm>
            <a:off x="12220000" y="60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Fully online coaching, no travel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Paperless verified credentials</a:t>
            </a:r>
          </a:p>
        </p:txBody>
      </p:sp>
      <p:sp>
        <p:nvSpPr>
          <p:cNvPr id="568" name="Banner 568"/>
          <p:cNvSpPr/>
          <p:nvPr/>
        </p:nvSpPr>
        <p:spPr>
          <a:xfrm>
            <a:off x="800000" y="7950000"/>
            <a:ext cx="16700000" cy="120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100000" tIns="100000" rIns="100000" bIns="10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Estimated ₹5 per session vs ₹3,000+ per hour for a human mock interview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69" name="Text 569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RESEARCH AND REFERENCES</a:t>
            </a:r>
          </a:p>
        </p:txBody>
      </p:sp>
      <p:sp>
        <p:nvSpPr>
          <p:cNvPr id="570" name="C 570"/>
          <p:cNvSpPr/>
          <p:nvPr/>
        </p:nvSpPr>
        <p:spPr>
          <a:xfrm>
            <a:off x="800000" y="2450000"/>
            <a:ext cx="8200000" cy="6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71" name="H 571"/>
          <p:cNvSpPr/>
          <p:nvPr/>
        </p:nvSpPr>
        <p:spPr>
          <a:xfrm>
            <a:off x="800000" y="2450000"/>
            <a:ext cx="8200000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Concepts and Research</a:t>
            </a:r>
          </a:p>
        </p:txBody>
      </p:sp>
      <p:sp>
        <p:nvSpPr>
          <p:cNvPr id="572" name="Text 572"/>
          <p:cNvSpPr txBox="1"/>
          <p:nvPr/>
        </p:nvSpPr>
        <p:spPr>
          <a:xfrm>
            <a:off x="1000000" y="3250000"/>
            <a:ext cx="7800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Retrieval-Augmented Generation (Lewis et al., 2020)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arxiv.org/abs/2005.11401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Ed25519 signatures: RFC 8032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rfc-editor.org/rfc/rfc8032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Bloom's Taxonomy for adaptive difficulty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Anderson &amp; Krathwohl, 2001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GRIMOIRE prototype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Working build, demo on request</a:t>
            </a:r>
          </a:p>
        </p:txBody>
      </p:sp>
      <p:sp>
        <p:nvSpPr>
          <p:cNvPr id="573" name="C 573"/>
          <p:cNvSpPr/>
          <p:nvPr/>
        </p:nvSpPr>
        <p:spPr>
          <a:xfrm>
            <a:off x="9300000" y="2450000"/>
            <a:ext cx="8200000" cy="6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74" name="H 574"/>
          <p:cNvSpPr/>
          <p:nvPr/>
        </p:nvSpPr>
        <p:spPr>
          <a:xfrm>
            <a:off x="9300000" y="2450000"/>
            <a:ext cx="820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Tools and Documentation</a:t>
            </a:r>
          </a:p>
        </p:txBody>
      </p:sp>
      <p:sp>
        <p:nvSpPr>
          <p:cNvPr id="575" name="Text 575"/>
          <p:cNvSpPr txBox="1"/>
          <p:nvPr/>
        </p:nvSpPr>
        <p:spPr>
          <a:xfrm>
            <a:off x="9500000" y="3250000"/>
            <a:ext cx="7800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Google MediaPipe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ai.google.dev/edge/mediapipe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ChromaDB vector database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docs.trychroma.com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Groq inference API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console.groq.com/docs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FastAPI and Next.js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fastapi.tiangolo.com, nextjs.org/docs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Web Speech API (MDN)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developer.mozilla.org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278" y="2550606"/>
            <a:ext cx="16459200" cy="5185788"/>
            <a:chOff x="0" y="0"/>
            <a:chExt cx="21945600" cy="69143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6914384"/>
            </a:xfrm>
            <a:custGeom>
              <a:avLst/>
              <a:gdLst/>
              <a:ahLst/>
              <a:cxnLst/>
              <a:rect l="l" t="t" r="r" b="b"/>
              <a:pathLst>
                <a:path w="21945600" h="6914384">
                  <a:moveTo>
                    <a:pt x="0" y="0"/>
                  </a:moveTo>
                  <a:lnTo>
                    <a:pt x="21945600" y="0"/>
                  </a:lnTo>
                  <a:lnTo>
                    <a:pt x="21945600" y="6914384"/>
                  </a:lnTo>
                  <a:lnTo>
                    <a:pt x="0" y="6914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312" b="21625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945600" cy="69620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879"/>
                </a:lnSpc>
              </a:pPr>
              <a:r>
                <a:rPr lang="en-US" sz="9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6" name="Freeform 16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8" name="Group 18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19" name="Freeform 1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76" name="Text 576"/>
          <p:cNvSpPr txBox="1"/>
          <p:nvPr/>
        </p:nvSpPr>
        <p:spPr>
          <a:xfrm>
            <a:off x="800000" y="6900000"/>
            <a:ext cx="167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F497D"/>
                </a:solidFill>
                <a:latin typeface="Arial"/>
                <a:cs typeface="Arial"/>
              </a:rPr>
              <a:t>Team BotS  |  Aditya Bajantri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Custom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Times New Roman Bold</vt:lpstr>
      <vt:lpstr>Calibri</vt:lpstr>
      <vt:lpstr>Arial Bold</vt:lpstr>
      <vt:lpstr>Georgia Pro</vt:lpstr>
      <vt:lpstr>Calibri (MS)</vt:lpstr>
      <vt:lpstr>Tahoma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AI MANTHAN ppt template.pptx</dc:title>
  <cp:lastModifiedBy>karanpratap singh sisodiya</cp:lastModifiedBy>
  <cp:revision>2</cp:revision>
  <dcterms:created xsi:type="dcterms:W3CDTF">2006-08-16T00:00:00Z</dcterms:created>
  <dcterms:modified xsi:type="dcterms:W3CDTF">2026-09-30T05:35:28Z</dcterms:modified>
  <dc:identifier>DAHWj71VrMc</dc:identifier>
</cp:coreProperties>
</file>