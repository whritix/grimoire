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3" r:id="rId9"/>
  </p:sldIdLst>
  <p:sldSz cx="18288000" cy="10287000"/>
  <p:notesSz cx="6858000" cy="9144000"/>
  <p:embeddedFontLst>
    <p:embeddedFont>
      <p:font typeface="Arial Bold" panose="020B0704020202020204" pitchFamily="34" charset="0"/>
      <p:regular r:id="rId10"/>
      <p:bold r:id="rId11"/>
    </p:embeddedFont>
    <p:embeddedFont>
      <p:font typeface="Calibri (MS)" panose="020B0604020202020204" charset="0"/>
      <p:regular r:id="rId12"/>
    </p:embeddedFont>
    <p:embeddedFont>
      <p:font typeface="Georgia Pro" panose="02040502050405020303" pitchFamily="18" charset="0"/>
      <p:regular r:id="rId13"/>
    </p:embeddedFont>
    <p:embeddedFont>
      <p:font typeface="Poppins Bold" panose="020B0604020202020204" charset="0"/>
      <p:regular r:id="rId14"/>
    </p:embeddedFont>
    <p:embeddedFont>
      <p:font typeface="Tahoma" panose="020B0604030504040204" pitchFamily="34" charset="0"/>
      <p:regular r:id="rId15"/>
      <p:bold r:id="rId16"/>
    </p:embeddedFont>
    <p:embeddedFont>
      <p:font typeface="Times New Roman Bold" panose="02020803070505020304" pitchFamily="18" charset="0"/>
      <p:regular r:id="rId17"/>
      <p:bold r:id="rId18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 varScale="1">
        <p:scale>
          <a:sx n="52" d="100"/>
          <a:sy n="52" d="100"/>
        </p:scale>
        <p:origin x="850" y="6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font" Target="fonts/font1.fntdata"/><Relationship Id="rId11" Type="http://schemas.openxmlformats.org/officeDocument/2006/relationships/font" Target="fonts/font2.fntdata"/><Relationship Id="rId12" Type="http://schemas.openxmlformats.org/officeDocument/2006/relationships/font" Target="fonts/font3.fntdata"/><Relationship Id="rId13" Type="http://schemas.openxmlformats.org/officeDocument/2006/relationships/font" Target="fonts/font4.fntdata"/><Relationship Id="rId14" Type="http://schemas.openxmlformats.org/officeDocument/2006/relationships/font" Target="fonts/font5.fntdata"/><Relationship Id="rId15" Type="http://schemas.openxmlformats.org/officeDocument/2006/relationships/font" Target="fonts/font6.fntdata"/><Relationship Id="rId16" Type="http://schemas.openxmlformats.org/officeDocument/2006/relationships/font" Target="fonts/font7.fntdata"/><Relationship Id="rId17" Type="http://schemas.openxmlformats.org/officeDocument/2006/relationships/font" Target="fonts/font8.fntdata"/><Relationship Id="rId18" Type="http://schemas.openxmlformats.org/officeDocument/2006/relationships/font" Target="fonts/font9.fntdata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9/30/2026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9/30/2026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9/30/2026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9/30/2026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e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e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7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e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7.png"/><Relationship Id="rId7" Type="http://schemas.openxmlformats.org/officeDocument/2006/relationships/image" Target="../media/image8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e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7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e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7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e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e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9259" b="-9259"/>
            </a:stretch>
          </a:blipFill>
        </p:spPr>
        <p:txBody>
          <a:bodyPr/>
          <a:p/>
        </p:txBody>
      </p:sp>
      <p:sp>
        <p:nvSpPr>
          <p:cNvPr id="3" name="Freeform 3"/>
          <p:cNvSpPr/>
          <p:nvPr/>
        </p:nvSpPr>
        <p:spPr>
          <a:xfrm>
            <a:off x="10091754" y="3915665"/>
            <a:ext cx="7869354" cy="4953344"/>
          </a:xfrm>
          <a:custGeom>
            <a:avLst/>
            <a:gdLst/>
            <a:ahLst/>
            <a:cxnLst/>
            <a:rect l="l" t="t" r="r" b="b"/>
            <a:pathLst>
              <a:path w="7869354" h="4953344">
                <a:moveTo>
                  <a:pt x="0" y="0"/>
                </a:moveTo>
                <a:lnTo>
                  <a:pt x="7869354" y="0"/>
                </a:lnTo>
                <a:lnTo>
                  <a:pt x="7869354" y="4953344"/>
                </a:lnTo>
                <a:lnTo>
                  <a:pt x="0" y="495334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r="-4148"/>
            </a:stretch>
          </a:blipFill>
        </p:spPr>
        <p:txBody>
          <a:bodyPr/>
          <a:p/>
        </p:txBody>
      </p:sp>
      <p:grpSp>
        <p:nvGrpSpPr>
          <p:cNvPr id="4" name="Group 4"/>
          <p:cNvGrpSpPr/>
          <p:nvPr/>
        </p:nvGrpSpPr>
        <p:grpSpPr>
          <a:xfrm>
            <a:off x="3437242" y="128016"/>
            <a:ext cx="11413517" cy="900684"/>
            <a:chOff x="0" y="0"/>
            <a:chExt cx="15218022" cy="1200912"/>
          </a:xfrm>
        </p:grpSpPr>
        <p:grpSp>
          <p:nvGrpSpPr>
            <p:cNvPr id="5" name="Group 5"/>
            <p:cNvGrpSpPr/>
            <p:nvPr/>
          </p:nvGrpSpPr>
          <p:grpSpPr>
            <a:xfrm>
              <a:off x="0" y="27257"/>
              <a:ext cx="15218022" cy="1173656"/>
              <a:chOff x="0" y="0"/>
              <a:chExt cx="2703073" cy="208468"/>
            </a:xfrm>
          </p:grpSpPr>
          <p:sp>
            <p:nvSpPr>
              <p:cNvPr id="6" name="Freeform 6"/>
              <p:cNvSpPr/>
              <p:nvPr/>
            </p:nvSpPr>
            <p:spPr>
              <a:xfrm>
                <a:off x="0" y="0"/>
                <a:ext cx="2703073" cy="208468"/>
              </a:xfrm>
              <a:custGeom>
                <a:avLst/>
                <a:gdLst/>
                <a:ahLst/>
                <a:cxnLst/>
                <a:rect l="l" t="t" r="r" b="b"/>
                <a:pathLst>
                  <a:path w="2703073" h="208468">
                    <a:moveTo>
                      <a:pt x="29846" y="0"/>
                    </a:moveTo>
                    <a:lnTo>
                      <a:pt x="2673227" y="0"/>
                    </a:lnTo>
                    <a:cubicBezTo>
                      <a:pt x="2681143" y="0"/>
                      <a:pt x="2688734" y="3144"/>
                      <a:pt x="2694331" y="8742"/>
                    </a:cubicBezTo>
                    <a:cubicBezTo>
                      <a:pt x="2699929" y="14339"/>
                      <a:pt x="2703073" y="21930"/>
                      <a:pt x="2703073" y="29846"/>
                    </a:cubicBezTo>
                    <a:lnTo>
                      <a:pt x="2703073" y="178623"/>
                    </a:lnTo>
                    <a:cubicBezTo>
                      <a:pt x="2703073" y="195106"/>
                      <a:pt x="2689711" y="208468"/>
                      <a:pt x="2673227" y="208468"/>
                    </a:cubicBezTo>
                    <a:lnTo>
                      <a:pt x="29846" y="208468"/>
                    </a:lnTo>
                    <a:cubicBezTo>
                      <a:pt x="13362" y="208468"/>
                      <a:pt x="0" y="195106"/>
                      <a:pt x="0" y="178623"/>
                    </a:cubicBezTo>
                    <a:lnTo>
                      <a:pt x="0" y="29846"/>
                    </a:lnTo>
                    <a:cubicBezTo>
                      <a:pt x="0" y="13362"/>
                      <a:pt x="13362" y="0"/>
                      <a:pt x="29846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9050" cap="rnd">
                <a:gradFill>
                  <a:gsLst>
                    <a:gs pos="0">
                      <a:srgbClr val="5DE0E6">
                        <a:alpha val="100000"/>
                      </a:srgbClr>
                    </a:gs>
                    <a:gs pos="100000">
                      <a:srgbClr val="004AAD">
                        <a:alpha val="100000"/>
                      </a:srgbClr>
                    </a:gs>
                  </a:gsLst>
                  <a:lin ang="0"/>
                </a:gradFill>
                <a:prstDash val="solid"/>
                <a:round/>
              </a:ln>
            </p:spPr>
            <p:txBody>
              <a:bodyPr/>
              <a:p/>
            </p:txBody>
          </p:sp>
          <p:sp>
            <p:nvSpPr>
              <p:cNvPr id="7" name="TextBox 7"/>
              <p:cNvSpPr txBox="1"/>
              <p:nvPr/>
            </p:nvSpPr>
            <p:spPr>
              <a:xfrm>
                <a:off x="0" y="-19050"/>
                <a:ext cx="2703073" cy="227518"/>
              </a:xfrm>
              <a:prstGeom prst="rect">
                <a:avLst/>
              </a:prstGeom>
            </p:spPr>
            <p:txBody>
              <a:bodyPr lIns="158888" tIns="158888" rIns="158888" bIns="158888" rtlCol="0" anchor="ctr"/>
              <a:lstStyle/>
              <a:p>
                <a:pPr algn="just">
                  <a:lnSpc>
                    <a:spcPts val="982"/>
                  </a:lnSpc>
                </a:pPr>
                <a:endParaRPr/>
              </a:p>
            </p:txBody>
          </p:sp>
        </p:grpSp>
        <p:sp>
          <p:nvSpPr>
            <p:cNvPr id="8" name="Freeform 8"/>
            <p:cNvSpPr/>
            <p:nvPr/>
          </p:nvSpPr>
          <p:spPr>
            <a:xfrm>
              <a:off x="1273589" y="0"/>
              <a:ext cx="3225180" cy="1179721"/>
            </a:xfrm>
            <a:custGeom>
              <a:avLst/>
              <a:gdLst/>
              <a:ahLst/>
              <a:cxnLst/>
              <a:rect l="l" t="t" r="r" b="b"/>
              <a:pathLst>
                <a:path w="3225180" h="1179721">
                  <a:moveTo>
                    <a:pt x="0" y="0"/>
                  </a:moveTo>
                  <a:lnTo>
                    <a:pt x="3225180" y="0"/>
                  </a:lnTo>
                  <a:lnTo>
                    <a:pt x="3225180" y="1179721"/>
                  </a:lnTo>
                  <a:lnTo>
                    <a:pt x="0" y="117972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t="-1001" b="-1001"/>
              </a:stretch>
            </a:blipFill>
          </p:spPr>
          <p:txBody>
            <a:bodyPr/>
            <a:p/>
          </p:txBody>
        </p:sp>
        <p:sp>
          <p:nvSpPr>
            <p:cNvPr id="9" name="Freeform 9"/>
            <p:cNvSpPr/>
            <p:nvPr/>
          </p:nvSpPr>
          <p:spPr>
            <a:xfrm>
              <a:off x="5117010" y="194821"/>
              <a:ext cx="4314511" cy="838527"/>
            </a:xfrm>
            <a:custGeom>
              <a:avLst/>
              <a:gdLst/>
              <a:ahLst/>
              <a:cxnLst/>
              <a:rect l="l" t="t" r="r" b="b"/>
              <a:pathLst>
                <a:path w="4314511" h="838527">
                  <a:moveTo>
                    <a:pt x="0" y="0"/>
                  </a:moveTo>
                  <a:lnTo>
                    <a:pt x="4314511" y="0"/>
                  </a:lnTo>
                  <a:lnTo>
                    <a:pt x="4314511" y="838527"/>
                  </a:lnTo>
                  <a:lnTo>
                    <a:pt x="0" y="83852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t="-2002"/>
              </a:stretch>
            </a:blipFill>
            <a:ln cap="sq">
              <a:noFill/>
              <a:prstDash val="solid"/>
              <a:miter/>
            </a:ln>
          </p:spPr>
          <p:txBody>
            <a:bodyPr/>
            <a:p/>
          </p:txBody>
        </p:sp>
        <p:sp>
          <p:nvSpPr>
            <p:cNvPr id="10" name="Freeform 10"/>
            <p:cNvSpPr/>
            <p:nvPr/>
          </p:nvSpPr>
          <p:spPr>
            <a:xfrm>
              <a:off x="11047629" y="168317"/>
              <a:ext cx="2505724" cy="891536"/>
            </a:xfrm>
            <a:custGeom>
              <a:avLst/>
              <a:gdLst/>
              <a:ahLst/>
              <a:cxnLst/>
              <a:rect l="l" t="t" r="r" b="b"/>
              <a:pathLst>
                <a:path w="2505724" h="891536">
                  <a:moveTo>
                    <a:pt x="0" y="0"/>
                  </a:moveTo>
                  <a:lnTo>
                    <a:pt x="2505724" y="0"/>
                  </a:lnTo>
                  <a:lnTo>
                    <a:pt x="2505724" y="891535"/>
                  </a:lnTo>
                  <a:lnTo>
                    <a:pt x="0" y="89153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t="-1001" b="-1001"/>
              </a:stretch>
            </a:blipFill>
          </p:spPr>
          <p:txBody>
            <a:bodyPr/>
            <a:p/>
          </p:txBody>
        </p:sp>
      </p:grpSp>
      <p:grpSp>
        <p:nvGrpSpPr>
          <p:cNvPr id="11" name="Group 11"/>
          <p:cNvGrpSpPr/>
          <p:nvPr/>
        </p:nvGrpSpPr>
        <p:grpSpPr>
          <a:xfrm>
            <a:off x="192913" y="4187777"/>
            <a:ext cx="9323175" cy="2251414"/>
            <a:chOff x="0" y="0"/>
            <a:chExt cx="12430900" cy="3001886"/>
          </a:xfrm>
        </p:grpSpPr>
        <p:sp>
          <p:nvSpPr>
            <p:cNvPr id="12" name="TextBox 12"/>
            <p:cNvSpPr txBox="1"/>
            <p:nvPr/>
          </p:nvSpPr>
          <p:spPr>
            <a:xfrm>
              <a:off x="0" y="-9525"/>
              <a:ext cx="12430900" cy="629726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3776"/>
                </a:lnSpc>
              </a:pPr>
              <a:r>
                <a:rPr lang="en-US" sz="3147">
                  <a:solidFill>
                    <a:srgbClr val="FFFFFF"/>
                  </a:solidFill>
                  <a:latin typeface="Georgia Pro"/>
                  <a:ea typeface="Georgia Pro"/>
                  <a:cs typeface="Georgia Pro"/>
                  <a:sym typeface="Georgia Pro"/>
                </a:rPr>
                <a:t>AI for Career Development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888893"/>
              <a:ext cx="12430900" cy="106320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6294"/>
                </a:lnSpc>
              </a:pPr>
              <a:r>
                <a:rPr lang="en-US" sz="5245" spc="78">
                  <a:solidFill>
                    <a:srgbClr val="FFFFFF"/>
                  </a:solidFill>
                  <a:latin typeface="Georgia Pro"/>
                  <a:ea typeface="Georgia Pro"/>
                  <a:cs typeface="Georgia Pro"/>
                  <a:sym typeface="Georgia Pro"/>
                </a:rPr>
                <a:t>GRIMOIRE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0" y="2230361"/>
              <a:ext cx="12430900" cy="77152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4556"/>
                </a:lnSpc>
              </a:pPr>
              <a:r>
                <a:rPr lang="en-US" sz="3796">
                  <a:solidFill>
                    <a:srgbClr val="FFFFFF"/>
                  </a:solidFill>
                  <a:latin typeface="Georgia Pro"/>
                  <a:ea typeface="Georgia Pro"/>
                  <a:cs typeface="Georgia Pro"/>
                  <a:sym typeface="Georgia Pro"/>
                </a:rPr>
                <a:t>Learn. Interview. Get Hired.</a:t>
              </a:r>
            </a:p>
          </p:txBody>
        </p:sp>
      </p:grpSp>
      <p:sp>
        <p:nvSpPr>
          <p:cNvPr id="15" name="TextBox 15"/>
          <p:cNvSpPr txBox="1"/>
          <p:nvPr/>
        </p:nvSpPr>
        <p:spPr>
          <a:xfrm>
            <a:off x="-1718238" y="7532138"/>
            <a:ext cx="12755697" cy="133687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347"/>
              </a:lnSpc>
            </a:pPr>
            <a:r>
              <a:rPr lang="en-US" sz="4456" spc="-35">
                <a:solidFill>
                  <a:srgbClr val="FFFFFF"/>
                </a:solidFill>
                <a:latin typeface="Tahoma"/>
                <a:ea typeface="Tahoma"/>
                <a:cs typeface="Tahoma"/>
                <a:sym typeface="Tahoma"/>
              </a:rPr>
              <a:t>Team BotS</a:t>
            </a:r>
          </a:p>
          <a:p>
            <a:pPr algn="ctr">
              <a:lnSpc>
                <a:spcPts val="5347"/>
              </a:lnSpc>
            </a:pPr>
            <a:r>
              <a:rPr lang="en-US" sz="4456" spc="-35">
                <a:solidFill>
                  <a:srgbClr val="FFFFFF"/>
                </a:solidFill>
                <a:latin typeface="Tahoma"/>
                <a:ea typeface="Tahoma"/>
                <a:cs typeface="Tahoma"/>
                <a:sym typeface="Tahoma"/>
              </a:rPr>
              <a:t>Team Leader: Aditya Bajantri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2847634" y="2547848"/>
            <a:ext cx="11850916" cy="54698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245"/>
              </a:lnSpc>
              <a:spcBef>
                <a:spcPct val="0"/>
              </a:spcBef>
            </a:pPr>
            <a:r>
              <a:rPr lang="en-US" sz="3032" b="1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Department of Information Technology 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2389866" y="1859790"/>
            <a:ext cx="12766452" cy="6302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r">
              <a:lnSpc>
                <a:spcPts val="4953"/>
              </a:lnSpc>
              <a:spcBef>
                <a:spcPct val="0"/>
              </a:spcBef>
            </a:pPr>
            <a:r>
              <a:rPr lang="en-US" sz="3538" b="1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Acropolis Institute of Technology and Research, Indore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D6E4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6"/>
          <p:cNvGrpSpPr/>
          <p:nvPr/>
        </p:nvGrpSpPr>
        <p:grpSpPr>
          <a:xfrm>
            <a:off x="0" y="9356117"/>
            <a:ext cx="18297479" cy="930883"/>
            <a:chOff x="0" y="0"/>
            <a:chExt cx="24396638" cy="1241177"/>
          </a:xfrm>
        </p:grpSpPr>
        <p:grpSp>
          <p:nvGrpSpPr>
            <p:cNvPr id="7" name="Group 7"/>
            <p:cNvGrpSpPr/>
            <p:nvPr/>
          </p:nvGrpSpPr>
          <p:grpSpPr>
            <a:xfrm>
              <a:off x="0" y="0"/>
              <a:ext cx="24396638" cy="1241177"/>
              <a:chOff x="0" y="0"/>
              <a:chExt cx="3764913" cy="191540"/>
            </a:xfrm>
          </p:grpSpPr>
          <p:sp>
            <p:nvSpPr>
              <p:cNvPr id="8" name="Freeform 8"/>
              <p:cNvSpPr/>
              <p:nvPr/>
            </p:nvSpPr>
            <p:spPr>
              <a:xfrm>
                <a:off x="0" y="0"/>
                <a:ext cx="3764913" cy="191540"/>
              </a:xfrm>
              <a:custGeom>
                <a:avLst/>
                <a:gdLst/>
                <a:ahLst/>
                <a:cxnLst/>
                <a:rect l="l" t="t" r="r" b="b"/>
                <a:pathLst>
                  <a:path w="3764913" h="191540">
                    <a:moveTo>
                      <a:pt x="0" y="0"/>
                    </a:moveTo>
                    <a:lnTo>
                      <a:pt x="3764913" y="0"/>
                    </a:lnTo>
                    <a:lnTo>
                      <a:pt x="3764913" y="191540"/>
                    </a:lnTo>
                    <a:lnTo>
                      <a:pt x="0" y="191540"/>
                    </a:lnTo>
                    <a:close/>
                  </a:path>
                </a:pathLst>
              </a:custGeom>
              <a:solidFill>
                <a:srgbClr val="0071C1"/>
              </a:solidFill>
            </p:spPr>
            <p:txBody>
              <a:bodyPr/>
              <a:p/>
            </p:txBody>
          </p:sp>
          <p:sp>
            <p:nvSpPr>
              <p:cNvPr id="9" name="TextBox 9"/>
              <p:cNvSpPr txBox="1"/>
              <p:nvPr/>
            </p:nvSpPr>
            <p:spPr>
              <a:xfrm>
                <a:off x="0" y="-19050"/>
                <a:ext cx="3764913" cy="21059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124"/>
                  </a:lnSpc>
                </a:pPr>
                <a:endParaRPr/>
              </a:p>
              <a:p>
                <a:pPr algn="ctr">
                  <a:lnSpc>
                    <a:spcPts val="3124"/>
                  </a:lnSpc>
                </a:pPr>
                <a:endParaRPr/>
              </a:p>
            </p:txBody>
          </p:sp>
        </p:grpSp>
        <p:sp>
          <p:nvSpPr>
            <p:cNvPr id="10" name="TextBox 10"/>
            <p:cNvSpPr txBox="1"/>
            <p:nvPr/>
          </p:nvSpPr>
          <p:spPr>
            <a:xfrm>
              <a:off x="23493488" y="341188"/>
              <a:ext cx="248285" cy="53975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24"/>
                </a:lnSpc>
                <a:spcBef>
                  <a:spcPct val="0"/>
                </a:spcBef>
              </a:pPr>
              <a:r>
                <a:rPr lang="en-US" sz="2603">
                  <a:solidFill>
                    <a:srgbClr val="FFFFFF"/>
                  </a:solidFill>
                  <a:latin typeface="Georgia Pro"/>
                  <a:ea typeface="Georgia Pro"/>
                  <a:cs typeface="Georgia Pro"/>
                  <a:sym typeface="Georgia Pro"/>
                </a:rPr>
                <a:t>2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0722311" y="374128"/>
              <a:ext cx="2531269" cy="53975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24"/>
                </a:lnSpc>
                <a:spcBef>
                  <a:spcPct val="0"/>
                </a:spcBef>
              </a:pPr>
              <a:r>
                <a:rPr lang="en-US" sz="2603">
                  <a:solidFill>
                    <a:srgbClr val="FFFFFF"/>
                  </a:solidFill>
                  <a:latin typeface="Georgia Pro"/>
                  <a:ea typeface="Georgia Pro"/>
                  <a:cs typeface="Georgia Pro"/>
                  <a:sym typeface="Georgia Pro"/>
                </a:rPr>
                <a:t>AI – मंथन 2.0</a:t>
              </a:r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3437242" y="-11369"/>
            <a:ext cx="11413517" cy="900684"/>
            <a:chOff x="0" y="0"/>
            <a:chExt cx="15218022" cy="1200912"/>
          </a:xfrm>
        </p:grpSpPr>
        <p:grpSp>
          <p:nvGrpSpPr>
            <p:cNvPr id="13" name="Group 13"/>
            <p:cNvGrpSpPr/>
            <p:nvPr/>
          </p:nvGrpSpPr>
          <p:grpSpPr>
            <a:xfrm>
              <a:off x="0" y="27257"/>
              <a:ext cx="15218022" cy="1173656"/>
              <a:chOff x="0" y="0"/>
              <a:chExt cx="2703073" cy="208468"/>
            </a:xfrm>
          </p:grpSpPr>
          <p:sp>
            <p:nvSpPr>
              <p:cNvPr id="14" name="Freeform 14"/>
              <p:cNvSpPr/>
              <p:nvPr/>
            </p:nvSpPr>
            <p:spPr>
              <a:xfrm>
                <a:off x="0" y="0"/>
                <a:ext cx="2703073" cy="208468"/>
              </a:xfrm>
              <a:custGeom>
                <a:avLst/>
                <a:gdLst/>
                <a:ahLst/>
                <a:cxnLst/>
                <a:rect l="l" t="t" r="r" b="b"/>
                <a:pathLst>
                  <a:path w="2703073" h="208468">
                    <a:moveTo>
                      <a:pt x="29846" y="0"/>
                    </a:moveTo>
                    <a:lnTo>
                      <a:pt x="2673227" y="0"/>
                    </a:lnTo>
                    <a:cubicBezTo>
                      <a:pt x="2681143" y="0"/>
                      <a:pt x="2688734" y="3144"/>
                      <a:pt x="2694331" y="8742"/>
                    </a:cubicBezTo>
                    <a:cubicBezTo>
                      <a:pt x="2699929" y="14339"/>
                      <a:pt x="2703073" y="21930"/>
                      <a:pt x="2703073" y="29846"/>
                    </a:cubicBezTo>
                    <a:lnTo>
                      <a:pt x="2703073" y="178623"/>
                    </a:lnTo>
                    <a:cubicBezTo>
                      <a:pt x="2703073" y="195106"/>
                      <a:pt x="2689711" y="208468"/>
                      <a:pt x="2673227" y="208468"/>
                    </a:cubicBezTo>
                    <a:lnTo>
                      <a:pt x="29846" y="208468"/>
                    </a:lnTo>
                    <a:cubicBezTo>
                      <a:pt x="13362" y="208468"/>
                      <a:pt x="0" y="195106"/>
                      <a:pt x="0" y="178623"/>
                    </a:cubicBezTo>
                    <a:lnTo>
                      <a:pt x="0" y="29846"/>
                    </a:lnTo>
                    <a:cubicBezTo>
                      <a:pt x="0" y="13362"/>
                      <a:pt x="13362" y="0"/>
                      <a:pt x="29846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9050" cap="rnd">
                <a:gradFill>
                  <a:gsLst>
                    <a:gs pos="0">
                      <a:srgbClr val="5DE0E6">
                        <a:alpha val="100000"/>
                      </a:srgbClr>
                    </a:gs>
                    <a:gs pos="100000">
                      <a:srgbClr val="004AAD">
                        <a:alpha val="100000"/>
                      </a:srgbClr>
                    </a:gs>
                  </a:gsLst>
                  <a:lin ang="0"/>
                </a:gradFill>
                <a:prstDash val="solid"/>
                <a:round/>
              </a:ln>
            </p:spPr>
            <p:txBody>
              <a:bodyPr/>
              <a:p/>
            </p:txBody>
          </p:sp>
          <p:sp>
            <p:nvSpPr>
              <p:cNvPr id="15" name="TextBox 15"/>
              <p:cNvSpPr txBox="1"/>
              <p:nvPr/>
            </p:nvSpPr>
            <p:spPr>
              <a:xfrm>
                <a:off x="0" y="-19050"/>
                <a:ext cx="2703073" cy="227518"/>
              </a:xfrm>
              <a:prstGeom prst="rect">
                <a:avLst/>
              </a:prstGeom>
            </p:spPr>
            <p:txBody>
              <a:bodyPr lIns="158888" tIns="158888" rIns="158888" bIns="158888" rtlCol="0" anchor="ctr"/>
              <a:lstStyle/>
              <a:p>
                <a:pPr algn="just">
                  <a:lnSpc>
                    <a:spcPts val="982"/>
                  </a:lnSpc>
                </a:pPr>
                <a:endParaRPr/>
              </a:p>
            </p:txBody>
          </p:sp>
        </p:grpSp>
        <p:sp>
          <p:nvSpPr>
            <p:cNvPr id="16" name="Freeform 16"/>
            <p:cNvSpPr/>
            <p:nvPr/>
          </p:nvSpPr>
          <p:spPr>
            <a:xfrm>
              <a:off x="1273589" y="0"/>
              <a:ext cx="3225180" cy="1179721"/>
            </a:xfrm>
            <a:custGeom>
              <a:avLst/>
              <a:gdLst/>
              <a:ahLst/>
              <a:cxnLst/>
              <a:rect l="l" t="t" r="r" b="b"/>
              <a:pathLst>
                <a:path w="3225180" h="1179721">
                  <a:moveTo>
                    <a:pt x="0" y="0"/>
                  </a:moveTo>
                  <a:lnTo>
                    <a:pt x="3225180" y="0"/>
                  </a:lnTo>
                  <a:lnTo>
                    <a:pt x="3225180" y="1179721"/>
                  </a:lnTo>
                  <a:lnTo>
                    <a:pt x="0" y="117972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t="-1001" b="-1001"/>
              </a:stretch>
            </a:blipFill>
          </p:spPr>
          <p:txBody>
            <a:bodyPr/>
            <a:p/>
          </p:txBody>
        </p:sp>
        <p:sp>
          <p:nvSpPr>
            <p:cNvPr id="17" name="Freeform 17"/>
            <p:cNvSpPr/>
            <p:nvPr/>
          </p:nvSpPr>
          <p:spPr>
            <a:xfrm>
              <a:off x="5117010" y="194821"/>
              <a:ext cx="4314511" cy="838527"/>
            </a:xfrm>
            <a:custGeom>
              <a:avLst/>
              <a:gdLst/>
              <a:ahLst/>
              <a:cxnLst/>
              <a:rect l="l" t="t" r="r" b="b"/>
              <a:pathLst>
                <a:path w="4314511" h="838527">
                  <a:moveTo>
                    <a:pt x="0" y="0"/>
                  </a:moveTo>
                  <a:lnTo>
                    <a:pt x="4314511" y="0"/>
                  </a:lnTo>
                  <a:lnTo>
                    <a:pt x="4314511" y="838527"/>
                  </a:lnTo>
                  <a:lnTo>
                    <a:pt x="0" y="83852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t="-2002"/>
              </a:stretch>
            </a:blipFill>
            <a:ln cap="sq">
              <a:noFill/>
              <a:prstDash val="solid"/>
              <a:miter/>
            </a:ln>
          </p:spPr>
          <p:txBody>
            <a:bodyPr/>
            <a:p/>
          </p:txBody>
        </p:sp>
        <p:sp>
          <p:nvSpPr>
            <p:cNvPr id="18" name="Freeform 18"/>
            <p:cNvSpPr/>
            <p:nvPr/>
          </p:nvSpPr>
          <p:spPr>
            <a:xfrm>
              <a:off x="11047629" y="168317"/>
              <a:ext cx="2505724" cy="891536"/>
            </a:xfrm>
            <a:custGeom>
              <a:avLst/>
              <a:gdLst/>
              <a:ahLst/>
              <a:cxnLst/>
              <a:rect l="l" t="t" r="r" b="b"/>
              <a:pathLst>
                <a:path w="2505724" h="891536">
                  <a:moveTo>
                    <a:pt x="0" y="0"/>
                  </a:moveTo>
                  <a:lnTo>
                    <a:pt x="2505724" y="0"/>
                  </a:lnTo>
                  <a:lnTo>
                    <a:pt x="2505724" y="891535"/>
                  </a:lnTo>
                  <a:lnTo>
                    <a:pt x="0" y="89153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t="-1001" b="-1001"/>
              </a:stretch>
            </a:blipFill>
          </p:spPr>
          <p:txBody>
            <a:bodyPr/>
            <a:p/>
          </p:txBody>
        </p:sp>
      </p:grpSp>
      <p:grpSp>
        <p:nvGrpSpPr>
          <p:cNvPr id="19" name="Group 19"/>
          <p:cNvGrpSpPr/>
          <p:nvPr/>
        </p:nvGrpSpPr>
        <p:grpSpPr>
          <a:xfrm>
            <a:off x="384991" y="139597"/>
            <a:ext cx="1915887" cy="1249099"/>
            <a:chOff x="0" y="0"/>
            <a:chExt cx="2554516" cy="1665465"/>
          </a:xfrm>
        </p:grpSpPr>
        <p:sp>
          <p:nvSpPr>
            <p:cNvPr id="20" name="Freeform 20" descr="Your startup LOGO"/>
            <p:cNvSpPr/>
            <p:nvPr/>
          </p:nvSpPr>
          <p:spPr>
            <a:xfrm>
              <a:off x="0" y="0"/>
              <a:ext cx="2554478" cy="1665478"/>
            </a:xfrm>
            <a:custGeom>
              <a:avLst/>
              <a:gdLst/>
              <a:ahLst/>
              <a:cxnLst/>
              <a:rect l="l" t="t" r="r" b="b"/>
              <a:pathLst>
                <a:path w="2554478" h="1665478">
                  <a:moveTo>
                    <a:pt x="0" y="832739"/>
                  </a:moveTo>
                  <a:cubicBezTo>
                    <a:pt x="0" y="372872"/>
                    <a:pt x="571881" y="0"/>
                    <a:pt x="1277239" y="0"/>
                  </a:cubicBezTo>
                  <a:cubicBezTo>
                    <a:pt x="1982597" y="0"/>
                    <a:pt x="2554478" y="372872"/>
                    <a:pt x="2554478" y="832739"/>
                  </a:cubicBezTo>
                  <a:cubicBezTo>
                    <a:pt x="2554478" y="1292606"/>
                    <a:pt x="1982597" y="1665478"/>
                    <a:pt x="1277239" y="1665478"/>
                  </a:cubicBezTo>
                  <a:cubicBezTo>
                    <a:pt x="571881" y="1665478"/>
                    <a:pt x="0" y="1292606"/>
                    <a:pt x="0" y="832739"/>
                  </a:cubicBezTo>
                  <a:close/>
                </a:path>
              </a:pathLst>
            </a:custGeom>
            <a:solidFill>
              <a:srgbClr val="FFFFFF"/>
            </a:solidFill>
            <a:ln w="38100" cap="sq">
              <a:solidFill>
                <a:srgbClr val="8064A2"/>
              </a:solidFill>
              <a:prstDash val="solid"/>
              <a:miter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0" y="-57150"/>
              <a:ext cx="2554516" cy="172261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240"/>
                </a:lnSpc>
              </a:pPr>
              <a:r>
                <a:rPr lang="en-US" sz="2700">
                  <a:solidFill>
                    <a:srgbClr val="00000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BotS</a:t>
              </a:r>
            </a:p>
          </p:txBody>
        </p:sp>
      </p:grpSp>
      <p:sp>
        <p:nvSpPr>
          <p:cNvPr id="22" name="Freeform 22"/>
          <p:cNvSpPr/>
          <p:nvPr/>
        </p:nvSpPr>
        <p:spPr>
          <a:xfrm>
            <a:off x="15582684" y="0"/>
            <a:ext cx="2705316" cy="1715305"/>
          </a:xfrm>
          <a:custGeom>
            <a:avLst/>
            <a:gdLst/>
            <a:ahLst/>
            <a:cxnLst/>
            <a:rect l="l" t="t" r="r" b="b"/>
            <a:pathLst>
              <a:path w="2705316" h="1715305">
                <a:moveTo>
                  <a:pt x="0" y="0"/>
                </a:moveTo>
                <a:lnTo>
                  <a:pt x="2705316" y="0"/>
                </a:lnTo>
                <a:lnTo>
                  <a:pt x="2705316" y="1715305"/>
                </a:lnTo>
                <a:lnTo>
                  <a:pt x="0" y="1715305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r="-4909"/>
            </a:stretch>
          </a:blipFill>
        </p:spPr>
        <p:txBody>
          <a:bodyPr/>
          <a:p/>
        </p:txBody>
      </p:sp>
      <p:sp>
        <p:nvSpPr>
          <p:cNvPr id="501" name="Text 501"/>
          <p:cNvSpPr txBox="1"/>
          <p:nvPr/>
        </p:nvSpPr>
        <p:spPr>
          <a:xfrm>
            <a:off x="900000" y="1250000"/>
            <a:ext cx="16500000" cy="9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200" b="1" dirty="0">
                <a:solidFill>
                  <a:srgbClr val="000000"/>
                </a:solidFill>
                <a:latin typeface="Times New Roman"/>
                <a:cs typeface="Times New Roman"/>
              </a:rPr>
              <a:t>GRIMOIRE: Autonomous AI Career Platform</a:t>
            </a:r>
          </a:p>
        </p:txBody>
      </p:sp>
      <p:sp>
        <p:nvSpPr>
          <p:cNvPr id="502" name="Card 502"/>
          <p:cNvSpPr/>
          <p:nvPr/>
        </p:nvSpPr>
        <p:spPr>
          <a:xfrm>
            <a:off x="800000" y="2450000"/>
            <a:ext cx="5366666" cy="53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071C1"/>
            </a:solidFill>
          </a:ln>
        </p:spPr>
        <p:txBody>
          <a:bodyPr wrap="square" lIns="180000" tIns="180000" rIns="180000" bIns="180000" rtlCol="0" anchor="t">
            <a:noAutofit/>
          </a:bodyPr>
          <a:lstStyle/>
          <a:p>
            <a:endParaRPr lang="en-US"/>
          </a:p>
        </p:txBody>
      </p:sp>
      <p:sp>
        <p:nvSpPr>
          <p:cNvPr id="503" name="CardHead 503"/>
          <p:cNvSpPr/>
          <p:nvPr/>
        </p:nvSpPr>
        <p:spPr>
          <a:xfrm>
            <a:off x="800000" y="2450000"/>
            <a:ext cx="5366666" cy="620000"/>
          </a:xfrm>
          <a:prstGeom prst="roundRect">
            <a:avLst>
              <a:gd name="adj" fmla="val 6000"/>
            </a:avLst>
          </a:prstGeom>
          <a:solidFill>
            <a:srgbClr val="0071C1"/>
          </a:solidFill>
          <a:ln>
            <a:noFill/>
          </a:ln>
        </p:spPr>
        <p:txBody>
          <a:bodyPr wrap="square" lIns="90000" tIns="90000" rIns="90000" bIns="9000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dirty="0">
                <a:solidFill>
                  <a:srgbClr val="FFFFFF"/>
                </a:solidFill>
                <a:latin typeface="Arial"/>
                <a:cs typeface="Arial"/>
              </a:rPr>
              <a:t>Proposed Solution</a:t>
            </a:r>
          </a:p>
        </p:txBody>
      </p:sp>
      <p:sp>
        <p:nvSpPr>
          <p:cNvPr id="504" name="Text 504"/>
          <p:cNvSpPr txBox="1"/>
          <p:nvPr/>
        </p:nvSpPr>
        <p:spPr>
          <a:xfrm>
            <a:off x="970000" y="3220000"/>
            <a:ext cx="5026666" cy="44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342900" indent="-342900" algn="l">
              <a:spcBef>
                <a:spcPts val="0"/>
              </a:spcBef>
              <a:spcAft>
                <a:spcPts val="700"/>
              </a:spcAft>
              <a:buFont typeface="Arial"/>
              <a:buChar char="•"/>
            </a:pPr>
            <a:r>
              <a:rPr lang="en-US" sz="2400" b="0" dirty="0">
                <a:solidFill>
                  <a:srgbClr val="000000"/>
                </a:solidFill>
                <a:latin typeface="Arial"/>
                <a:cs typeface="Arial"/>
              </a:rPr>
              <a:t>AI career coach from skill gap to job offer</a:t>
            </a:r>
          </a:p>
          <a:p>
            <a:pPr marL="342900" indent="-342900" algn="l">
              <a:spcBef>
                <a:spcPts val="0"/>
              </a:spcBef>
              <a:spcAft>
                <a:spcPts val="700"/>
              </a:spcAft>
              <a:buFont typeface="Arial"/>
              <a:buChar char="•"/>
            </a:pPr>
            <a:r>
              <a:rPr lang="en-US" sz="2400" b="0" dirty="0">
                <a:solidFill>
                  <a:srgbClr val="000000"/>
                </a:solidFill>
                <a:latin typeface="Arial"/>
                <a:cs typeface="Arial"/>
              </a:rPr>
              <a:t>Diagnoses gaps with a smart test</a:t>
            </a:r>
          </a:p>
          <a:p>
            <a:pPr marL="342900" indent="-342900" algn="l">
              <a:spcBef>
                <a:spcPts val="0"/>
              </a:spcBef>
              <a:spcAft>
                <a:spcPts val="700"/>
              </a:spcAft>
              <a:buFont typeface="Arial"/>
              <a:buChar char="•"/>
            </a:pPr>
            <a:r>
              <a:rPr lang="en-US" sz="2400" b="0" dirty="0">
                <a:solidFill>
                  <a:srgbClr val="000000"/>
                </a:solidFill>
                <a:latin typeface="Arial"/>
                <a:cs typeface="Arial"/>
              </a:rPr>
              <a:t>Builds a week-by-week roadmap</a:t>
            </a:r>
          </a:p>
          <a:p>
            <a:pPr marL="342900" indent="-342900" algn="l">
              <a:spcBef>
                <a:spcPts val="0"/>
              </a:spcBef>
              <a:spcAft>
                <a:spcPts val="700"/>
              </a:spcAft>
              <a:buFont typeface="Arial"/>
              <a:buChar char="•"/>
            </a:pPr>
            <a:r>
              <a:rPr lang="en-US" sz="2400" b="0" dirty="0">
                <a:solidFill>
                  <a:srgbClr val="000000"/>
                </a:solidFill>
                <a:latin typeface="Arial"/>
                <a:cs typeface="Arial"/>
              </a:rPr>
              <a:t>Voice mock interviews with live code review</a:t>
            </a:r>
          </a:p>
          <a:p>
            <a:pPr marL="342900" indent="-342900" algn="l">
              <a:spcBef>
                <a:spcPts val="0"/>
              </a:spcBef>
              <a:spcAft>
                <a:spcPts val="700"/>
              </a:spcAft>
              <a:buFont typeface="Arial"/>
              <a:buChar char="•"/>
            </a:pPr>
            <a:r>
              <a:rPr lang="en-US" sz="2400" b="0" dirty="0">
                <a:solidFill>
                  <a:srgbClr val="000000"/>
                </a:solidFill>
                <a:latin typeface="Arial"/>
                <a:cs typeface="Arial"/>
              </a:rPr>
              <a:t>Webcam feedback on posture and eye contact</a:t>
            </a:r>
          </a:p>
          <a:p>
            <a:pPr marL="342900" indent="-342900" algn="l">
              <a:spcBef>
                <a:spcPts val="0"/>
              </a:spcBef>
              <a:spcAft>
                <a:spcPts val="700"/>
              </a:spcAft>
              <a:buFont typeface="Arial"/>
              <a:buChar char="•"/>
            </a:pPr>
            <a:r>
              <a:rPr lang="en-US" sz="2400" b="0" dirty="0">
                <a:solidFill>
                  <a:srgbClr val="000000"/>
                </a:solidFill>
                <a:latin typeface="Arial"/>
                <a:cs typeface="Arial"/>
              </a:rPr>
              <a:t>Tamper-proof badges and a public portfolio</a:t>
            </a:r>
          </a:p>
        </p:txBody>
      </p:sp>
      <p:sp>
        <p:nvSpPr>
          <p:cNvPr id="505" name="Card 505"/>
          <p:cNvSpPr/>
          <p:nvPr/>
        </p:nvSpPr>
        <p:spPr>
          <a:xfrm>
            <a:off x="6466666" y="2450000"/>
            <a:ext cx="5366666" cy="53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071C1"/>
            </a:solidFill>
          </a:ln>
        </p:spPr>
        <p:txBody>
          <a:bodyPr wrap="square" lIns="180000" tIns="180000" rIns="180000" bIns="180000" rtlCol="0" anchor="t">
            <a:noAutofit/>
          </a:bodyPr>
          <a:lstStyle/>
          <a:p>
            <a:endParaRPr lang="en-US"/>
          </a:p>
        </p:txBody>
      </p:sp>
      <p:sp>
        <p:nvSpPr>
          <p:cNvPr id="506" name="CardHead 506"/>
          <p:cNvSpPr/>
          <p:nvPr/>
        </p:nvSpPr>
        <p:spPr>
          <a:xfrm>
            <a:off x="6466666" y="2450000"/>
            <a:ext cx="5366666" cy="620000"/>
          </a:xfrm>
          <a:prstGeom prst="roundRect">
            <a:avLst>
              <a:gd name="adj" fmla="val 6000"/>
            </a:avLst>
          </a:prstGeom>
          <a:solidFill>
            <a:srgbClr val="0071C1"/>
          </a:solidFill>
          <a:ln>
            <a:noFill/>
          </a:ln>
        </p:spPr>
        <p:txBody>
          <a:bodyPr wrap="square" lIns="90000" tIns="90000" rIns="90000" bIns="9000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dirty="0">
                <a:solidFill>
                  <a:srgbClr val="FFFFFF"/>
                </a:solidFill>
                <a:latin typeface="Arial"/>
                <a:cs typeface="Arial"/>
              </a:rPr>
              <a:t>How It Addresses the Problem</a:t>
            </a:r>
          </a:p>
        </p:txBody>
      </p:sp>
      <p:sp>
        <p:nvSpPr>
          <p:cNvPr id="507" name="Text 507"/>
          <p:cNvSpPr txBox="1"/>
          <p:nvPr/>
        </p:nvSpPr>
        <p:spPr>
          <a:xfrm>
            <a:off x="6636666" y="3220000"/>
            <a:ext cx="5026666" cy="44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342900" indent="-342900" algn="l">
              <a:spcBef>
                <a:spcPts val="0"/>
              </a:spcBef>
              <a:spcAft>
                <a:spcPts val="700"/>
              </a:spcAft>
              <a:buFont typeface="Arial"/>
              <a:buChar char="•"/>
            </a:pPr>
            <a:r>
              <a:rPr lang="en-US" sz="2400" b="0" dirty="0">
                <a:solidFill>
                  <a:srgbClr val="000000"/>
                </a:solidFill>
                <a:latin typeface="Arial"/>
                <a:cs typeface="Arial"/>
              </a:rPr>
              <a:t>Problem: students finish courses but freeze in interviews</a:t>
            </a:r>
          </a:p>
          <a:p>
            <a:pPr marL="342900" indent="-342900" algn="l">
              <a:spcBef>
                <a:spcPts val="0"/>
              </a:spcBef>
              <a:spcAft>
                <a:spcPts val="700"/>
              </a:spcAft>
              <a:buFont typeface="Arial"/>
              <a:buChar char="•"/>
            </a:pPr>
            <a:r>
              <a:rPr lang="en-US" sz="2400" b="0" dirty="0">
                <a:solidFill>
                  <a:srgbClr val="000000"/>
                </a:solidFill>
                <a:latin typeface="Arial"/>
                <a:cs typeface="Arial"/>
              </a:rPr>
              <a:t>Human mock interviews cost ₹3,000+ per hour</a:t>
            </a:r>
          </a:p>
          <a:p>
            <a:pPr marL="342900" indent="-342900" algn="l">
              <a:spcBef>
                <a:spcPts val="0"/>
              </a:spcBef>
              <a:spcAft>
                <a:spcPts val="700"/>
              </a:spcAft>
              <a:buFont typeface="Arial"/>
              <a:buChar char="•"/>
            </a:pPr>
            <a:r>
              <a:rPr lang="en-US" sz="2400" b="0" dirty="0">
                <a:solidFill>
                  <a:srgbClr val="000000"/>
                </a:solidFill>
                <a:latin typeface="Arial"/>
                <a:cs typeface="Arial"/>
              </a:rPr>
              <a:t>GRIMOIRE practises the real interview, voice plus code</a:t>
            </a:r>
          </a:p>
          <a:p>
            <a:pPr marL="342900" indent="-342900" algn="l">
              <a:spcBef>
                <a:spcPts val="0"/>
              </a:spcBef>
              <a:spcAft>
                <a:spcPts val="700"/>
              </a:spcAft>
              <a:buFont typeface="Arial"/>
              <a:buChar char="•"/>
            </a:pPr>
            <a:r>
              <a:rPr lang="en-US" sz="2400" b="0" dirty="0">
                <a:solidFill>
                  <a:srgbClr val="000000"/>
                </a:solidFill>
                <a:latin typeface="Arial"/>
                <a:cs typeface="Arial"/>
              </a:rPr>
              <a:t>Roadmap adapts when scores drop</a:t>
            </a:r>
          </a:p>
          <a:p>
            <a:pPr marL="342900" indent="-342900" algn="l">
              <a:spcBef>
                <a:spcPts val="0"/>
              </a:spcBef>
              <a:spcAft>
                <a:spcPts val="700"/>
              </a:spcAft>
              <a:buFont typeface="Arial"/>
              <a:buChar char="•"/>
            </a:pPr>
            <a:r>
              <a:rPr lang="en-US" sz="2400" b="0" dirty="0">
                <a:solidFill>
                  <a:srgbClr val="000000"/>
                </a:solidFill>
                <a:latin typeface="Arial"/>
                <a:cs typeface="Arial"/>
              </a:rPr>
              <a:t>Verified proof of work replaces keyword resumes</a:t>
            </a:r>
          </a:p>
        </p:txBody>
      </p:sp>
      <p:sp>
        <p:nvSpPr>
          <p:cNvPr id="508" name="Card 508"/>
          <p:cNvSpPr/>
          <p:nvPr/>
        </p:nvSpPr>
        <p:spPr>
          <a:xfrm>
            <a:off x="12133332" y="2450000"/>
            <a:ext cx="5366666" cy="53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071C1"/>
            </a:solidFill>
          </a:ln>
        </p:spPr>
        <p:txBody>
          <a:bodyPr wrap="square" lIns="180000" tIns="180000" rIns="180000" bIns="180000" rtlCol="0" anchor="t">
            <a:noAutofit/>
          </a:bodyPr>
          <a:lstStyle/>
          <a:p>
            <a:endParaRPr lang="en-US"/>
          </a:p>
        </p:txBody>
      </p:sp>
      <p:sp>
        <p:nvSpPr>
          <p:cNvPr id="509" name="CardHead 509"/>
          <p:cNvSpPr/>
          <p:nvPr/>
        </p:nvSpPr>
        <p:spPr>
          <a:xfrm>
            <a:off x="12133332" y="2450000"/>
            <a:ext cx="5366666" cy="620000"/>
          </a:xfrm>
          <a:prstGeom prst="roundRect">
            <a:avLst>
              <a:gd name="adj" fmla="val 6000"/>
            </a:avLst>
          </a:prstGeom>
          <a:solidFill>
            <a:srgbClr val="1F497D"/>
          </a:solidFill>
          <a:ln>
            <a:noFill/>
          </a:ln>
        </p:spPr>
        <p:txBody>
          <a:bodyPr wrap="square" lIns="90000" tIns="90000" rIns="90000" bIns="9000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dirty="0">
                <a:solidFill>
                  <a:srgbClr val="FFFFFF"/>
                </a:solidFill>
                <a:latin typeface="Arial"/>
                <a:cs typeface="Arial"/>
              </a:rPr>
              <a:t>Innovation and Uniqueness</a:t>
            </a:r>
          </a:p>
        </p:txBody>
      </p:sp>
      <p:sp>
        <p:nvSpPr>
          <p:cNvPr id="510" name="Text 510"/>
          <p:cNvSpPr txBox="1"/>
          <p:nvPr/>
        </p:nvSpPr>
        <p:spPr>
          <a:xfrm>
            <a:off x="12303332" y="3220000"/>
            <a:ext cx="5026666" cy="44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342900" indent="-342900" algn="l">
              <a:spcBef>
                <a:spcPts val="0"/>
              </a:spcBef>
              <a:spcAft>
                <a:spcPts val="700"/>
              </a:spcAft>
              <a:buFont typeface="Arial"/>
              <a:buChar char="•"/>
            </a:pPr>
            <a:r>
              <a:rPr lang="en-US" sz="2400" b="0" dirty="0">
                <a:solidFill>
                  <a:srgbClr val="000000"/>
                </a:solidFill>
                <a:latin typeface="Arial"/>
                <a:cs typeface="Arial"/>
              </a:rPr>
              <a:t>One platform: learn, practise, get verified</a:t>
            </a:r>
          </a:p>
          <a:p>
            <a:pPr marL="342900" indent="-342900" algn="l">
              <a:spcBef>
                <a:spcPts val="0"/>
              </a:spcBef>
              <a:spcAft>
                <a:spcPts val="700"/>
              </a:spcAft>
              <a:buFont typeface="Arial"/>
              <a:buChar char="•"/>
            </a:pPr>
            <a:r>
              <a:rPr lang="en-US" sz="2400" b="0" dirty="0">
                <a:solidFill>
                  <a:srgbClr val="000000"/>
                </a:solidFill>
                <a:latin typeface="Arial"/>
                <a:cs typeface="Arial"/>
              </a:rPr>
              <a:t>Multimodal: voice, vision and code together</a:t>
            </a:r>
          </a:p>
          <a:p>
            <a:pPr marL="342900" indent="-342900" algn="l">
              <a:spcBef>
                <a:spcPts val="0"/>
              </a:spcBef>
              <a:spcAft>
                <a:spcPts val="700"/>
              </a:spcAft>
              <a:buFont typeface="Arial"/>
              <a:buChar char="•"/>
            </a:pPr>
            <a:r>
              <a:rPr lang="en-US" sz="2400" b="0" dirty="0">
                <a:solidFill>
                  <a:srgbClr val="000000"/>
                </a:solidFill>
                <a:latin typeface="Arial"/>
                <a:cs typeface="Arial"/>
              </a:rPr>
              <a:t>Ed25519-signed credentials employers can trust</a:t>
            </a:r>
          </a:p>
          <a:p>
            <a:pPr marL="342900" indent="-342900" algn="l">
              <a:spcBef>
                <a:spcPts val="0"/>
              </a:spcBef>
              <a:spcAft>
                <a:spcPts val="700"/>
              </a:spcAft>
              <a:buFont typeface="Arial"/>
              <a:buChar char="•"/>
            </a:pPr>
            <a:r>
              <a:rPr lang="en-US" sz="2400" b="0" dirty="0">
                <a:solidFill>
                  <a:srgbClr val="000000"/>
                </a:solidFill>
                <a:latin typeface="Arial"/>
                <a:cs typeface="Arial"/>
              </a:rPr>
              <a:t>Link-checked learning resources</a:t>
            </a:r>
          </a:p>
          <a:p>
            <a:pPr marL="342900" indent="-342900" algn="l">
              <a:spcBef>
                <a:spcPts val="0"/>
              </a:spcBef>
              <a:spcAft>
                <a:spcPts val="700"/>
              </a:spcAft>
              <a:buFont typeface="Arial"/>
              <a:buChar char="•"/>
            </a:pPr>
            <a:r>
              <a:rPr lang="en-US" sz="2400" b="0" dirty="0">
                <a:solidFill>
                  <a:srgbClr val="000000"/>
                </a:solidFill>
                <a:latin typeface="Arial"/>
                <a:cs typeface="Arial"/>
              </a:rPr>
              <a:t>Working prototype already built</a:t>
            </a:r>
          </a:p>
        </p:txBody>
      </p:sp>
      <p:sp>
        <p:nvSpPr>
          <p:cNvPr id="511" name="Banner 511"/>
          <p:cNvSpPr/>
          <p:nvPr/>
        </p:nvSpPr>
        <p:spPr>
          <a:xfrm>
            <a:off x="800000" y="7950000"/>
            <a:ext cx="16700000" cy="1200000"/>
          </a:xfrm>
          <a:prstGeom prst="roundRect">
            <a:avLst>
              <a:gd name="adj" fmla="val 6000"/>
            </a:avLst>
          </a:prstGeom>
          <a:solidFill>
            <a:srgbClr val="1F497D"/>
          </a:solidFill>
          <a:ln>
            <a:noFill/>
          </a:ln>
        </p:spPr>
        <p:txBody>
          <a:bodyPr wrap="square" lIns="100000" tIns="100000" rIns="100000" bIns="10000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 dirty="0">
                <a:solidFill>
                  <a:srgbClr val="FFFFFF"/>
                </a:solidFill>
                <a:latin typeface="Arial"/>
                <a:cs typeface="Arial"/>
              </a:rPr>
              <a:t>Students don't fail from lack of knowledge. They fail from lack of practice under pressure.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D6E4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6"/>
          <p:cNvGrpSpPr/>
          <p:nvPr/>
        </p:nvGrpSpPr>
        <p:grpSpPr>
          <a:xfrm>
            <a:off x="-9479" y="9356117"/>
            <a:ext cx="18297479" cy="930883"/>
            <a:chOff x="0" y="0"/>
            <a:chExt cx="24396638" cy="1241177"/>
          </a:xfrm>
        </p:grpSpPr>
        <p:grpSp>
          <p:nvGrpSpPr>
            <p:cNvPr id="7" name="Group 7"/>
            <p:cNvGrpSpPr/>
            <p:nvPr/>
          </p:nvGrpSpPr>
          <p:grpSpPr>
            <a:xfrm>
              <a:off x="0" y="0"/>
              <a:ext cx="24396638" cy="1241177"/>
              <a:chOff x="0" y="0"/>
              <a:chExt cx="3764913" cy="191540"/>
            </a:xfrm>
          </p:grpSpPr>
          <p:sp>
            <p:nvSpPr>
              <p:cNvPr id="8" name="Freeform 8"/>
              <p:cNvSpPr/>
              <p:nvPr/>
            </p:nvSpPr>
            <p:spPr>
              <a:xfrm>
                <a:off x="0" y="0"/>
                <a:ext cx="3764913" cy="191540"/>
              </a:xfrm>
              <a:custGeom>
                <a:avLst/>
                <a:gdLst/>
                <a:ahLst/>
                <a:cxnLst/>
                <a:rect l="l" t="t" r="r" b="b"/>
                <a:pathLst>
                  <a:path w="3764913" h="191540">
                    <a:moveTo>
                      <a:pt x="0" y="0"/>
                    </a:moveTo>
                    <a:lnTo>
                      <a:pt x="3764913" y="0"/>
                    </a:lnTo>
                    <a:lnTo>
                      <a:pt x="3764913" y="191540"/>
                    </a:lnTo>
                    <a:lnTo>
                      <a:pt x="0" y="191540"/>
                    </a:lnTo>
                    <a:close/>
                  </a:path>
                </a:pathLst>
              </a:custGeom>
              <a:solidFill>
                <a:srgbClr val="0071C1"/>
              </a:solidFill>
            </p:spPr>
            <p:txBody>
              <a:bodyPr/>
              <a:p/>
            </p:txBody>
          </p:sp>
          <p:sp>
            <p:nvSpPr>
              <p:cNvPr id="9" name="TextBox 9"/>
              <p:cNvSpPr txBox="1"/>
              <p:nvPr/>
            </p:nvSpPr>
            <p:spPr>
              <a:xfrm>
                <a:off x="0" y="-19050"/>
                <a:ext cx="3764913" cy="21059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124"/>
                  </a:lnSpc>
                </a:pPr>
                <a:endParaRPr/>
              </a:p>
              <a:p>
                <a:pPr algn="ctr">
                  <a:lnSpc>
                    <a:spcPts val="3124"/>
                  </a:lnSpc>
                </a:pPr>
                <a:endParaRPr/>
              </a:p>
            </p:txBody>
          </p:sp>
        </p:grpSp>
        <p:sp>
          <p:nvSpPr>
            <p:cNvPr id="10" name="TextBox 10"/>
            <p:cNvSpPr txBox="1"/>
            <p:nvPr/>
          </p:nvSpPr>
          <p:spPr>
            <a:xfrm>
              <a:off x="23493488" y="341188"/>
              <a:ext cx="248285" cy="53975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24"/>
                </a:lnSpc>
                <a:spcBef>
                  <a:spcPct val="0"/>
                </a:spcBef>
              </a:pPr>
              <a:r>
                <a:rPr lang="en-US" sz="2603">
                  <a:solidFill>
                    <a:srgbClr val="FFFFFF"/>
                  </a:solidFill>
                  <a:latin typeface="Georgia Pro"/>
                  <a:ea typeface="Georgia Pro"/>
                  <a:cs typeface="Georgia Pro"/>
                  <a:sym typeface="Georgia Pro"/>
                </a:rPr>
                <a:t>3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0722311" y="374128"/>
              <a:ext cx="2531269" cy="53975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24"/>
                </a:lnSpc>
                <a:spcBef>
                  <a:spcPct val="0"/>
                </a:spcBef>
              </a:pPr>
              <a:r>
                <a:rPr lang="en-US" sz="2603">
                  <a:solidFill>
                    <a:srgbClr val="FFFFFF"/>
                  </a:solidFill>
                  <a:latin typeface="Georgia Pro"/>
                  <a:ea typeface="Georgia Pro"/>
                  <a:cs typeface="Georgia Pro"/>
                  <a:sym typeface="Georgia Pro"/>
                </a:rPr>
                <a:t>AI – मंथन 2.0</a:t>
              </a:r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3437242" y="-20442"/>
            <a:ext cx="11413517" cy="900684"/>
            <a:chOff x="0" y="0"/>
            <a:chExt cx="15218022" cy="1200912"/>
          </a:xfrm>
        </p:grpSpPr>
        <p:grpSp>
          <p:nvGrpSpPr>
            <p:cNvPr id="13" name="Group 13"/>
            <p:cNvGrpSpPr/>
            <p:nvPr/>
          </p:nvGrpSpPr>
          <p:grpSpPr>
            <a:xfrm>
              <a:off x="0" y="27257"/>
              <a:ext cx="15218022" cy="1173656"/>
              <a:chOff x="0" y="0"/>
              <a:chExt cx="2703073" cy="208468"/>
            </a:xfrm>
          </p:grpSpPr>
          <p:sp>
            <p:nvSpPr>
              <p:cNvPr id="14" name="Freeform 14"/>
              <p:cNvSpPr/>
              <p:nvPr/>
            </p:nvSpPr>
            <p:spPr>
              <a:xfrm>
                <a:off x="0" y="0"/>
                <a:ext cx="2703073" cy="208468"/>
              </a:xfrm>
              <a:custGeom>
                <a:avLst/>
                <a:gdLst/>
                <a:ahLst/>
                <a:cxnLst/>
                <a:rect l="l" t="t" r="r" b="b"/>
                <a:pathLst>
                  <a:path w="2703073" h="208468">
                    <a:moveTo>
                      <a:pt x="29846" y="0"/>
                    </a:moveTo>
                    <a:lnTo>
                      <a:pt x="2673227" y="0"/>
                    </a:lnTo>
                    <a:cubicBezTo>
                      <a:pt x="2681143" y="0"/>
                      <a:pt x="2688734" y="3144"/>
                      <a:pt x="2694331" y="8742"/>
                    </a:cubicBezTo>
                    <a:cubicBezTo>
                      <a:pt x="2699929" y="14339"/>
                      <a:pt x="2703073" y="21930"/>
                      <a:pt x="2703073" y="29846"/>
                    </a:cubicBezTo>
                    <a:lnTo>
                      <a:pt x="2703073" y="178623"/>
                    </a:lnTo>
                    <a:cubicBezTo>
                      <a:pt x="2703073" y="195106"/>
                      <a:pt x="2689711" y="208468"/>
                      <a:pt x="2673227" y="208468"/>
                    </a:cubicBezTo>
                    <a:lnTo>
                      <a:pt x="29846" y="208468"/>
                    </a:lnTo>
                    <a:cubicBezTo>
                      <a:pt x="13362" y="208468"/>
                      <a:pt x="0" y="195106"/>
                      <a:pt x="0" y="178623"/>
                    </a:cubicBezTo>
                    <a:lnTo>
                      <a:pt x="0" y="29846"/>
                    </a:lnTo>
                    <a:cubicBezTo>
                      <a:pt x="0" y="13362"/>
                      <a:pt x="13362" y="0"/>
                      <a:pt x="29846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9050" cap="rnd">
                <a:gradFill>
                  <a:gsLst>
                    <a:gs pos="0">
                      <a:srgbClr val="5DE0E6">
                        <a:alpha val="100000"/>
                      </a:srgbClr>
                    </a:gs>
                    <a:gs pos="100000">
                      <a:srgbClr val="004AAD">
                        <a:alpha val="100000"/>
                      </a:srgbClr>
                    </a:gs>
                  </a:gsLst>
                  <a:lin ang="0"/>
                </a:gradFill>
                <a:prstDash val="solid"/>
                <a:round/>
              </a:ln>
            </p:spPr>
            <p:txBody>
              <a:bodyPr/>
              <a:p/>
            </p:txBody>
          </p:sp>
          <p:sp>
            <p:nvSpPr>
              <p:cNvPr id="15" name="TextBox 15"/>
              <p:cNvSpPr txBox="1"/>
              <p:nvPr/>
            </p:nvSpPr>
            <p:spPr>
              <a:xfrm>
                <a:off x="0" y="-19050"/>
                <a:ext cx="2703073" cy="227518"/>
              </a:xfrm>
              <a:prstGeom prst="rect">
                <a:avLst/>
              </a:prstGeom>
            </p:spPr>
            <p:txBody>
              <a:bodyPr lIns="158888" tIns="158888" rIns="158888" bIns="158888" rtlCol="0" anchor="ctr"/>
              <a:lstStyle/>
              <a:p>
                <a:pPr algn="just">
                  <a:lnSpc>
                    <a:spcPts val="982"/>
                  </a:lnSpc>
                </a:pPr>
                <a:endParaRPr/>
              </a:p>
            </p:txBody>
          </p:sp>
        </p:grpSp>
        <p:sp>
          <p:nvSpPr>
            <p:cNvPr id="16" name="Freeform 16"/>
            <p:cNvSpPr/>
            <p:nvPr/>
          </p:nvSpPr>
          <p:spPr>
            <a:xfrm>
              <a:off x="1273589" y="0"/>
              <a:ext cx="3225180" cy="1179721"/>
            </a:xfrm>
            <a:custGeom>
              <a:avLst/>
              <a:gdLst/>
              <a:ahLst/>
              <a:cxnLst/>
              <a:rect l="l" t="t" r="r" b="b"/>
              <a:pathLst>
                <a:path w="3225180" h="1179721">
                  <a:moveTo>
                    <a:pt x="0" y="0"/>
                  </a:moveTo>
                  <a:lnTo>
                    <a:pt x="3225180" y="0"/>
                  </a:lnTo>
                  <a:lnTo>
                    <a:pt x="3225180" y="1179721"/>
                  </a:lnTo>
                  <a:lnTo>
                    <a:pt x="0" y="117972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t="-1001" b="-1001"/>
              </a:stretch>
            </a:blipFill>
          </p:spPr>
          <p:txBody>
            <a:bodyPr/>
            <a:p/>
          </p:txBody>
        </p:sp>
        <p:sp>
          <p:nvSpPr>
            <p:cNvPr id="17" name="Freeform 17"/>
            <p:cNvSpPr/>
            <p:nvPr/>
          </p:nvSpPr>
          <p:spPr>
            <a:xfrm>
              <a:off x="5117010" y="194821"/>
              <a:ext cx="4314511" cy="838527"/>
            </a:xfrm>
            <a:custGeom>
              <a:avLst/>
              <a:gdLst/>
              <a:ahLst/>
              <a:cxnLst/>
              <a:rect l="l" t="t" r="r" b="b"/>
              <a:pathLst>
                <a:path w="4314511" h="838527">
                  <a:moveTo>
                    <a:pt x="0" y="0"/>
                  </a:moveTo>
                  <a:lnTo>
                    <a:pt x="4314511" y="0"/>
                  </a:lnTo>
                  <a:lnTo>
                    <a:pt x="4314511" y="838527"/>
                  </a:lnTo>
                  <a:lnTo>
                    <a:pt x="0" y="83852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t="-2002"/>
              </a:stretch>
            </a:blipFill>
            <a:ln cap="sq">
              <a:noFill/>
              <a:prstDash val="solid"/>
              <a:miter/>
            </a:ln>
          </p:spPr>
          <p:txBody>
            <a:bodyPr/>
            <a:p/>
          </p:txBody>
        </p:sp>
        <p:sp>
          <p:nvSpPr>
            <p:cNvPr id="18" name="Freeform 18"/>
            <p:cNvSpPr/>
            <p:nvPr/>
          </p:nvSpPr>
          <p:spPr>
            <a:xfrm>
              <a:off x="11047629" y="168317"/>
              <a:ext cx="2505724" cy="891536"/>
            </a:xfrm>
            <a:custGeom>
              <a:avLst/>
              <a:gdLst/>
              <a:ahLst/>
              <a:cxnLst/>
              <a:rect l="l" t="t" r="r" b="b"/>
              <a:pathLst>
                <a:path w="2505724" h="891536">
                  <a:moveTo>
                    <a:pt x="0" y="0"/>
                  </a:moveTo>
                  <a:lnTo>
                    <a:pt x="2505724" y="0"/>
                  </a:lnTo>
                  <a:lnTo>
                    <a:pt x="2505724" y="891535"/>
                  </a:lnTo>
                  <a:lnTo>
                    <a:pt x="0" y="89153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t="-1001" b="-1001"/>
              </a:stretch>
            </a:blipFill>
          </p:spPr>
          <p:txBody>
            <a:bodyPr/>
            <a:p/>
          </p:txBody>
        </p:sp>
      </p:grpSp>
      <p:grpSp>
        <p:nvGrpSpPr>
          <p:cNvPr id="19" name="Group 19"/>
          <p:cNvGrpSpPr/>
          <p:nvPr/>
        </p:nvGrpSpPr>
        <p:grpSpPr>
          <a:xfrm>
            <a:off x="384991" y="139597"/>
            <a:ext cx="1915887" cy="1249099"/>
            <a:chOff x="0" y="0"/>
            <a:chExt cx="2554516" cy="1665465"/>
          </a:xfrm>
        </p:grpSpPr>
        <p:sp>
          <p:nvSpPr>
            <p:cNvPr id="20" name="Freeform 20" descr="Your startup LOGO"/>
            <p:cNvSpPr/>
            <p:nvPr/>
          </p:nvSpPr>
          <p:spPr>
            <a:xfrm>
              <a:off x="0" y="0"/>
              <a:ext cx="2554478" cy="1665478"/>
            </a:xfrm>
            <a:custGeom>
              <a:avLst/>
              <a:gdLst/>
              <a:ahLst/>
              <a:cxnLst/>
              <a:rect l="l" t="t" r="r" b="b"/>
              <a:pathLst>
                <a:path w="2554478" h="1665478">
                  <a:moveTo>
                    <a:pt x="0" y="832739"/>
                  </a:moveTo>
                  <a:cubicBezTo>
                    <a:pt x="0" y="372872"/>
                    <a:pt x="571881" y="0"/>
                    <a:pt x="1277239" y="0"/>
                  </a:cubicBezTo>
                  <a:cubicBezTo>
                    <a:pt x="1982597" y="0"/>
                    <a:pt x="2554478" y="372872"/>
                    <a:pt x="2554478" y="832739"/>
                  </a:cubicBezTo>
                  <a:cubicBezTo>
                    <a:pt x="2554478" y="1292606"/>
                    <a:pt x="1982597" y="1665478"/>
                    <a:pt x="1277239" y="1665478"/>
                  </a:cubicBezTo>
                  <a:cubicBezTo>
                    <a:pt x="571881" y="1665478"/>
                    <a:pt x="0" y="1292606"/>
                    <a:pt x="0" y="832739"/>
                  </a:cubicBezTo>
                  <a:close/>
                </a:path>
              </a:pathLst>
            </a:custGeom>
            <a:solidFill>
              <a:srgbClr val="FFFFFF"/>
            </a:solidFill>
            <a:ln w="38100" cap="sq">
              <a:solidFill>
                <a:srgbClr val="8064A2"/>
              </a:solidFill>
              <a:prstDash val="solid"/>
              <a:miter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0" y="-57150"/>
              <a:ext cx="2554516" cy="172261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240"/>
                </a:lnSpc>
              </a:pPr>
              <a:r>
                <a:rPr lang="en-US" sz="2700">
                  <a:solidFill>
                    <a:srgbClr val="00000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BotS</a:t>
              </a:r>
            </a:p>
          </p:txBody>
        </p:sp>
      </p:grpSp>
      <p:sp>
        <p:nvSpPr>
          <p:cNvPr id="22" name="Freeform 22"/>
          <p:cNvSpPr/>
          <p:nvPr/>
        </p:nvSpPr>
        <p:spPr>
          <a:xfrm>
            <a:off x="15582684" y="0"/>
            <a:ext cx="2705316" cy="1715305"/>
          </a:xfrm>
          <a:custGeom>
            <a:avLst/>
            <a:gdLst/>
            <a:ahLst/>
            <a:cxnLst/>
            <a:rect l="l" t="t" r="r" b="b"/>
            <a:pathLst>
              <a:path w="2705316" h="1715305">
                <a:moveTo>
                  <a:pt x="0" y="0"/>
                </a:moveTo>
                <a:lnTo>
                  <a:pt x="2705316" y="0"/>
                </a:lnTo>
                <a:lnTo>
                  <a:pt x="2705316" y="1715305"/>
                </a:lnTo>
                <a:lnTo>
                  <a:pt x="0" y="1715305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r="-4909"/>
            </a:stretch>
          </a:blipFill>
        </p:spPr>
        <p:txBody>
          <a:bodyPr/>
          <a:p/>
        </p:txBody>
      </p:sp>
      <p:sp>
        <p:nvSpPr>
          <p:cNvPr id="512" name="Text 512"/>
          <p:cNvSpPr txBox="1"/>
          <p:nvPr/>
        </p:nvSpPr>
        <p:spPr>
          <a:xfrm>
            <a:off x="900000" y="1150000"/>
            <a:ext cx="16500000" cy="8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200" b="1" dirty="0">
                <a:solidFill>
                  <a:srgbClr val="000000"/>
                </a:solidFill>
                <a:latin typeface="Times New Roman"/>
                <a:cs typeface="Times New Roman"/>
              </a:rPr>
              <a:t>TECHNICAL APPROACH</a:t>
            </a:r>
          </a:p>
        </p:txBody>
      </p:sp>
      <p:sp>
        <p:nvSpPr>
          <p:cNvPr id="513" name="Text 513"/>
          <p:cNvSpPr txBox="1"/>
          <p:nvPr/>
        </p:nvSpPr>
        <p:spPr>
          <a:xfrm>
            <a:off x="800000" y="2050000"/>
            <a:ext cx="8000000" cy="4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 dirty="0">
                <a:solidFill>
                  <a:srgbClr val="1F497D"/>
                </a:solidFill>
                <a:latin typeface="Arial"/>
                <a:cs typeface="Arial"/>
              </a:rPr>
              <a:t>Technologies Used</a:t>
            </a:r>
          </a:p>
        </p:txBody>
      </p:sp>
      <p:sp>
        <p:nvSpPr>
          <p:cNvPr id="514" name="TechHead 514"/>
          <p:cNvSpPr/>
          <p:nvPr/>
        </p:nvSpPr>
        <p:spPr>
          <a:xfrm>
            <a:off x="800000" y="2550000"/>
            <a:ext cx="3180000" cy="480000"/>
          </a:xfrm>
          <a:prstGeom prst="roundRect">
            <a:avLst>
              <a:gd name="adj" fmla="val 6000"/>
            </a:avLst>
          </a:prstGeom>
          <a:solidFill>
            <a:srgbClr val="0071C1"/>
          </a:solidFill>
          <a:ln>
            <a:noFill/>
          </a:ln>
        </p:spPr>
        <p:txBody>
          <a:bodyPr wrap="square" lIns="60000" tIns="60000" rIns="60000" bIns="6000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 b="1" dirty="0">
                <a:solidFill>
                  <a:srgbClr val="FFFFFF"/>
                </a:solidFill>
                <a:latin typeface="Arial"/>
                <a:cs typeface="Arial"/>
              </a:rPr>
              <a:t>Frontend</a:t>
            </a:r>
          </a:p>
        </p:txBody>
      </p:sp>
      <p:sp>
        <p:nvSpPr>
          <p:cNvPr id="515" name="TechBody 515"/>
          <p:cNvSpPr/>
          <p:nvPr/>
        </p:nvSpPr>
        <p:spPr>
          <a:xfrm>
            <a:off x="800000" y="3030000"/>
            <a:ext cx="3180000" cy="125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071C1"/>
            </a:solidFill>
          </a:ln>
        </p:spPr>
        <p:txBody>
          <a:bodyPr wrap="square" lIns="120000" tIns="120000" rIns="120000" bIns="12000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00" b="0" dirty="0">
                <a:solidFill>
                  <a:srgbClr val="000000"/>
                </a:solidFill>
                <a:latin typeface="Arial"/>
                <a:cs typeface="Arial"/>
              </a:rPr>
              <a:t>Next.js, React, TypeScript, Tailwind</a:t>
            </a:r>
          </a:p>
        </p:txBody>
      </p:sp>
      <p:sp>
        <p:nvSpPr>
          <p:cNvPr id="516" name="TechHead 516"/>
          <p:cNvSpPr/>
          <p:nvPr/>
        </p:nvSpPr>
        <p:spPr>
          <a:xfrm>
            <a:off x="4180000" y="2550000"/>
            <a:ext cx="3180000" cy="480000"/>
          </a:xfrm>
          <a:prstGeom prst="roundRect">
            <a:avLst>
              <a:gd name="adj" fmla="val 6000"/>
            </a:avLst>
          </a:prstGeom>
          <a:solidFill>
            <a:srgbClr val="0071C1"/>
          </a:solidFill>
          <a:ln>
            <a:noFill/>
          </a:ln>
        </p:spPr>
        <p:txBody>
          <a:bodyPr wrap="square" lIns="60000" tIns="60000" rIns="60000" bIns="6000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 b="1" dirty="0">
                <a:solidFill>
                  <a:srgbClr val="FFFFFF"/>
                </a:solidFill>
                <a:latin typeface="Arial"/>
                <a:cs typeface="Arial"/>
              </a:rPr>
              <a:t>Backend</a:t>
            </a:r>
          </a:p>
        </p:txBody>
      </p:sp>
      <p:sp>
        <p:nvSpPr>
          <p:cNvPr id="517" name="TechBody 517"/>
          <p:cNvSpPr/>
          <p:nvPr/>
        </p:nvSpPr>
        <p:spPr>
          <a:xfrm>
            <a:off x="4180000" y="3030000"/>
            <a:ext cx="3180000" cy="125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071C1"/>
            </a:solidFill>
          </a:ln>
        </p:spPr>
        <p:txBody>
          <a:bodyPr wrap="square" lIns="120000" tIns="120000" rIns="120000" bIns="12000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00" b="0" dirty="0">
                <a:solidFill>
                  <a:srgbClr val="000000"/>
                </a:solidFill>
                <a:latin typeface="Arial"/>
                <a:cs typeface="Arial"/>
              </a:rPr>
              <a:t>Python, FastAPI, WebSockets</a:t>
            </a:r>
          </a:p>
        </p:txBody>
      </p:sp>
      <p:sp>
        <p:nvSpPr>
          <p:cNvPr id="518" name="TechHead 518"/>
          <p:cNvSpPr/>
          <p:nvPr/>
        </p:nvSpPr>
        <p:spPr>
          <a:xfrm>
            <a:off x="7560000" y="2550000"/>
            <a:ext cx="3180000" cy="480000"/>
          </a:xfrm>
          <a:prstGeom prst="roundRect">
            <a:avLst>
              <a:gd name="adj" fmla="val 6000"/>
            </a:avLst>
          </a:prstGeom>
          <a:solidFill>
            <a:srgbClr val="0071C1"/>
          </a:solidFill>
          <a:ln>
            <a:noFill/>
          </a:ln>
        </p:spPr>
        <p:txBody>
          <a:bodyPr wrap="square" lIns="60000" tIns="60000" rIns="60000" bIns="6000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 b="1" dirty="0">
                <a:solidFill>
                  <a:srgbClr val="FFFFFF"/>
                </a:solidFill>
                <a:latin typeface="Arial"/>
                <a:cs typeface="Arial"/>
              </a:rPr>
              <a:t>AI / LLM</a:t>
            </a:r>
          </a:p>
        </p:txBody>
      </p:sp>
      <p:sp>
        <p:nvSpPr>
          <p:cNvPr id="519" name="TechBody 519"/>
          <p:cNvSpPr/>
          <p:nvPr/>
        </p:nvSpPr>
        <p:spPr>
          <a:xfrm>
            <a:off x="7560000" y="3030000"/>
            <a:ext cx="3180000" cy="125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071C1"/>
            </a:solidFill>
          </a:ln>
        </p:spPr>
        <p:txBody>
          <a:bodyPr wrap="square" lIns="120000" tIns="120000" rIns="120000" bIns="12000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00" b="0" dirty="0">
                <a:solidFill>
                  <a:srgbClr val="000000"/>
                </a:solidFill>
                <a:latin typeface="Arial"/>
                <a:cs typeface="Arial"/>
              </a:rPr>
              <a:t>Groq (Llama 3), Gemini, Ollama</a:t>
            </a:r>
          </a:p>
        </p:txBody>
      </p:sp>
      <p:sp>
        <p:nvSpPr>
          <p:cNvPr id="520" name="TechHead 520"/>
          <p:cNvSpPr/>
          <p:nvPr/>
        </p:nvSpPr>
        <p:spPr>
          <a:xfrm>
            <a:off x="10940000" y="2550000"/>
            <a:ext cx="3180000" cy="480000"/>
          </a:xfrm>
          <a:prstGeom prst="roundRect">
            <a:avLst>
              <a:gd name="adj" fmla="val 6000"/>
            </a:avLst>
          </a:prstGeom>
          <a:solidFill>
            <a:srgbClr val="0071C1"/>
          </a:solidFill>
          <a:ln>
            <a:noFill/>
          </a:ln>
        </p:spPr>
        <p:txBody>
          <a:bodyPr wrap="square" lIns="60000" tIns="60000" rIns="60000" bIns="6000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 b="1" dirty="0">
                <a:solidFill>
                  <a:srgbClr val="FFFFFF"/>
                </a:solidFill>
                <a:latin typeface="Arial"/>
                <a:cs typeface="Arial"/>
              </a:rPr>
              <a:t>Vision &amp; Speech</a:t>
            </a:r>
          </a:p>
        </p:txBody>
      </p:sp>
      <p:sp>
        <p:nvSpPr>
          <p:cNvPr id="521" name="TechBody 521"/>
          <p:cNvSpPr/>
          <p:nvPr/>
        </p:nvSpPr>
        <p:spPr>
          <a:xfrm>
            <a:off x="10940000" y="3030000"/>
            <a:ext cx="3180000" cy="125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071C1"/>
            </a:solidFill>
          </a:ln>
        </p:spPr>
        <p:txBody>
          <a:bodyPr wrap="square" lIns="120000" tIns="120000" rIns="120000" bIns="12000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00" b="0" dirty="0">
                <a:solidFill>
                  <a:srgbClr val="000000"/>
                </a:solidFill>
                <a:latin typeface="Arial"/>
                <a:cs typeface="Arial"/>
              </a:rPr>
              <a:t>MediaPipe, OpenCV, Web Speech API</a:t>
            </a:r>
          </a:p>
        </p:txBody>
      </p:sp>
      <p:sp>
        <p:nvSpPr>
          <p:cNvPr id="522" name="TechHead 522"/>
          <p:cNvSpPr/>
          <p:nvPr/>
        </p:nvSpPr>
        <p:spPr>
          <a:xfrm>
            <a:off x="14320000" y="2550000"/>
            <a:ext cx="3180000" cy="480000"/>
          </a:xfrm>
          <a:prstGeom prst="roundRect">
            <a:avLst>
              <a:gd name="adj" fmla="val 6000"/>
            </a:avLst>
          </a:prstGeom>
          <a:solidFill>
            <a:srgbClr val="0071C1"/>
          </a:solidFill>
          <a:ln>
            <a:noFill/>
          </a:ln>
        </p:spPr>
        <p:txBody>
          <a:bodyPr wrap="square" lIns="60000" tIns="60000" rIns="60000" bIns="6000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 b="1" dirty="0">
                <a:solidFill>
                  <a:srgbClr val="FFFFFF"/>
                </a:solidFill>
                <a:latin typeface="Arial"/>
                <a:cs typeface="Arial"/>
              </a:rPr>
              <a:t>Data</a:t>
            </a:r>
          </a:p>
        </p:txBody>
      </p:sp>
      <p:sp>
        <p:nvSpPr>
          <p:cNvPr id="523" name="TechBody 523"/>
          <p:cNvSpPr/>
          <p:nvPr/>
        </p:nvSpPr>
        <p:spPr>
          <a:xfrm>
            <a:off x="14320000" y="3030000"/>
            <a:ext cx="3180000" cy="125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071C1"/>
            </a:solidFill>
          </a:ln>
        </p:spPr>
        <p:txBody>
          <a:bodyPr wrap="square" lIns="120000" tIns="120000" rIns="120000" bIns="12000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00" b="0" dirty="0">
                <a:solidFill>
                  <a:srgbClr val="000000"/>
                </a:solidFill>
                <a:latin typeface="Arial"/>
                <a:cs typeface="Arial"/>
              </a:rPr>
              <a:t>ChromaDB, Redis, Firestore, PostgreSQL</a:t>
            </a:r>
          </a:p>
        </p:txBody>
      </p:sp>
      <p:sp>
        <p:nvSpPr>
          <p:cNvPr id="524" name="Text 524"/>
          <p:cNvSpPr txBox="1"/>
          <p:nvPr/>
        </p:nvSpPr>
        <p:spPr>
          <a:xfrm>
            <a:off x="800000" y="4450000"/>
            <a:ext cx="8400000" cy="4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 dirty="0">
                <a:solidFill>
                  <a:srgbClr val="1F497D"/>
                </a:solidFill>
                <a:latin typeface="Arial"/>
                <a:cs typeface="Arial"/>
              </a:rPr>
              <a:t>Methodology: Student Journey</a:t>
            </a:r>
          </a:p>
        </p:txBody>
      </p:sp>
      <p:sp>
        <p:nvSpPr>
          <p:cNvPr id="525" name="Step 525"/>
          <p:cNvSpPr/>
          <p:nvPr/>
        </p:nvSpPr>
        <p:spPr>
          <a:xfrm>
            <a:off x="800000" y="5000000"/>
            <a:ext cx="8400000" cy="660000"/>
          </a:xfrm>
          <a:prstGeom prst="roundRect">
            <a:avLst>
              <a:gd name="adj" fmla="val 6000"/>
            </a:avLst>
          </a:prstGeom>
          <a:solidFill>
            <a:srgbClr val="0071C1"/>
          </a:solidFill>
          <a:ln>
            <a:noFill/>
          </a:ln>
        </p:spPr>
        <p:txBody>
          <a:bodyPr wrap="square" lIns="90000" tIns="90000" rIns="90000" bIns="9000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300"/>
              </a:spcAft>
              <a:buNone/>
            </a:pPr>
            <a:r>
              <a:rPr b="1" sz="1800">
                <a:solidFill>
                  <a:srgbClr val="FFFFFF"/>
                </a:solidFill>
              </a:rPr>
              <a:t>1. Diagnostic Assessment: </a:t>
            </a:r>
            <a:r>
              <a:rPr b="0" sz="1600">
                <a:solidFill>
                  <a:srgbClr val="EAF2F8"/>
                </a:solidFill>
              </a:rPr>
              <a:t>Skill-gap test &amp; personalized baseline score</a:t>
            </a:r>
          </a:p>
        </p:txBody>
      </p:sp>
      <p:sp>
        <p:nvSpPr>
          <p:cNvPr id="527" name="Step 527"/>
          <p:cNvSpPr/>
          <p:nvPr/>
        </p:nvSpPr>
        <p:spPr>
          <a:xfrm>
            <a:off x="800000" y="5885000"/>
            <a:ext cx="8400000" cy="660000"/>
          </a:xfrm>
          <a:prstGeom prst="roundRect">
            <a:avLst>
              <a:gd name="adj" fmla="val 6000"/>
            </a:avLst>
          </a:prstGeom>
          <a:solidFill>
            <a:srgbClr val="0071C1"/>
          </a:solidFill>
          <a:ln>
            <a:noFill/>
          </a:ln>
        </p:spPr>
        <p:txBody>
          <a:bodyPr wrap="square" lIns="90000" tIns="90000" rIns="90000" bIns="9000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300"/>
              </a:spcAft>
              <a:buNone/>
            </a:pPr>
            <a:r>
              <a:rPr b="1" sz="1800">
                <a:solidFill>
                  <a:srgbClr val="FFFFFF"/>
                </a:solidFill>
              </a:rPr>
              <a:t>2. Adaptive Learning Plan: </a:t>
            </a:r>
            <a:r>
              <a:rPr b="0" sz="1600">
                <a:solidFill>
                  <a:srgbClr val="EAF2F8"/>
                </a:solidFill>
              </a:rPr>
              <a:t>AI-curated roadmap with live resource verification</a:t>
            </a:r>
          </a:p>
        </p:txBody>
      </p:sp>
      <p:sp>
        <p:nvSpPr>
          <p:cNvPr id="529" name="Step 529"/>
          <p:cNvSpPr/>
          <p:nvPr/>
        </p:nvSpPr>
        <p:spPr>
          <a:xfrm>
            <a:off x="800000" y="6770000"/>
            <a:ext cx="8400000" cy="660000"/>
          </a:xfrm>
          <a:prstGeom prst="roundRect">
            <a:avLst>
              <a:gd name="adj" fmla="val 6000"/>
            </a:avLst>
          </a:prstGeom>
          <a:solidFill>
            <a:srgbClr val="0071C1"/>
          </a:solidFill>
          <a:ln>
            <a:noFill/>
          </a:ln>
        </p:spPr>
        <p:txBody>
          <a:bodyPr wrap="square" lIns="90000" tIns="90000" rIns="90000" bIns="9000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300"/>
              </a:spcAft>
              <a:buNone/>
            </a:pPr>
            <a:r>
              <a:rPr b="1" sz="1800">
                <a:solidFill>
                  <a:srgbClr val="FFFFFF"/>
                </a:solidFill>
              </a:rPr>
              <a:t>3. Contextual Doubt Solver: </a:t>
            </a:r>
            <a:r>
              <a:rPr b="0" sz="1600">
                <a:solidFill>
                  <a:srgbClr val="EAF2F8"/>
                </a:solidFill>
              </a:rPr>
              <a:t>Multi-modal AI assistant for voice &amp; code queries</a:t>
            </a:r>
          </a:p>
        </p:txBody>
      </p:sp>
      <p:sp>
        <p:nvSpPr>
          <p:cNvPr id="531" name="Step 531"/>
          <p:cNvSpPr/>
          <p:nvPr/>
        </p:nvSpPr>
        <p:spPr>
          <a:xfrm>
            <a:off x="800000" y="7655000"/>
            <a:ext cx="8400000" cy="660000"/>
          </a:xfrm>
          <a:prstGeom prst="roundRect">
            <a:avLst>
              <a:gd name="adj" fmla="val 6000"/>
            </a:avLst>
          </a:prstGeom>
          <a:solidFill>
            <a:srgbClr val="00508A"/>
          </a:solidFill>
          <a:ln>
            <a:noFill/>
          </a:ln>
        </p:spPr>
        <p:txBody>
          <a:bodyPr wrap="square" lIns="90000" tIns="90000" rIns="90000" bIns="9000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300"/>
              </a:spcAft>
              <a:buNone/>
            </a:pPr>
            <a:r>
              <a:rPr b="1" sz="1800">
                <a:solidFill>
                  <a:srgbClr val="FFFFFF"/>
                </a:solidFill>
              </a:rPr>
              <a:t>4. Multimodal Mock Interview: </a:t>
            </a:r>
            <a:r>
              <a:rPr b="0" sz="1600">
                <a:solidFill>
                  <a:srgbClr val="EAF2F8"/>
                </a:solidFill>
              </a:rPr>
              <a:t>Real-time voice STT/TTS, vision posture &amp; coding simulator</a:t>
            </a:r>
          </a:p>
        </p:txBody>
      </p:sp>
      <p:sp>
        <p:nvSpPr>
          <p:cNvPr id="533" name="Step 533"/>
          <p:cNvSpPr/>
          <p:nvPr/>
        </p:nvSpPr>
        <p:spPr>
          <a:xfrm>
            <a:off x="800000" y="8540000"/>
            <a:ext cx="8400000" cy="660000"/>
          </a:xfrm>
          <a:prstGeom prst="roundRect">
            <a:avLst>
              <a:gd name="adj" fmla="val 6000"/>
            </a:avLst>
          </a:prstGeom>
          <a:solidFill>
            <a:srgbClr val="0071C1"/>
          </a:solidFill>
          <a:ln>
            <a:noFill/>
          </a:ln>
        </p:spPr>
        <p:txBody>
          <a:bodyPr wrap="square" lIns="90000" tIns="90000" rIns="90000" bIns="9000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300"/>
              </a:spcAft>
              <a:buNone/>
            </a:pPr>
            <a:r>
              <a:rPr b="1" sz="1800">
                <a:solidFill>
                  <a:srgbClr val="FFFFFF"/>
                </a:solidFill>
              </a:rPr>
              <a:t>5. Verifiable Credential: </a:t>
            </a:r>
            <a:r>
              <a:rPr b="0" sz="1600">
                <a:solidFill>
                  <a:srgbClr val="EAF2F8"/>
                </a:solidFill>
              </a:rPr>
              <a:t>Ed25519 tamper-proof digital cryptographic badge</a:t>
            </a:r>
          </a:p>
        </p:txBody>
      </p:sp>
      <p:sp>
        <p:nvSpPr>
          <p:cNvPr id="534" name="TextBox 533"/>
          <p:cNvSpPr txBox="1"/>
          <p:nvPr/>
        </p:nvSpPr>
        <p:spPr>
          <a:xfrm>
            <a:off x="9800000" y="4450000"/>
            <a:ext cx="7600000" cy="4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>
                <a:solidFill>
                  <a:srgbClr val="1B4F72"/>
                </a:solidFill>
              </a:rPr>
              <a:t>Working Prototype: Step 4 (AI Mock Interview Room)</a:t>
            </a:r>
          </a:p>
        </p:txBody>
      </p:sp>
      <p:pic>
        <p:nvPicPr>
          <p:cNvPr id="535" name="Picture 534" descr="interview_prototype_showcas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800000" y="5000000"/>
            <a:ext cx="7600000" cy="4209360"/>
          </a:xfrm>
          <a:prstGeom prst="rect">
            <a:avLst/>
          </a:prstGeom>
        </p:spPr>
      </p:pic>
      <p:sp>
        <p:nvSpPr>
          <p:cNvPr id="536" name="Down Arrow 535"/>
          <p:cNvSpPr/>
          <p:nvPr/>
        </p:nvSpPr>
        <p:spPr>
          <a:xfrm>
            <a:off x="4880000" y="5685000"/>
            <a:ext cx="240000" cy="175000"/>
          </a:xfrm>
          <a:prstGeom prst="downArrow">
            <a:avLst/>
          </a:prstGeom>
          <a:solidFill>
            <a:srgbClr val="0071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7" name="Down Arrow 536"/>
          <p:cNvSpPr/>
          <p:nvPr/>
        </p:nvSpPr>
        <p:spPr>
          <a:xfrm>
            <a:off x="4880000" y="6570000"/>
            <a:ext cx="240000" cy="175000"/>
          </a:xfrm>
          <a:prstGeom prst="downArrow">
            <a:avLst/>
          </a:prstGeom>
          <a:solidFill>
            <a:srgbClr val="0071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8" name="Down Arrow 537"/>
          <p:cNvSpPr/>
          <p:nvPr/>
        </p:nvSpPr>
        <p:spPr>
          <a:xfrm>
            <a:off x="4880000" y="7455000"/>
            <a:ext cx="240000" cy="175000"/>
          </a:xfrm>
          <a:prstGeom prst="downArrow">
            <a:avLst/>
          </a:prstGeom>
          <a:solidFill>
            <a:srgbClr val="0071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9" name="Down Arrow 538"/>
          <p:cNvSpPr/>
          <p:nvPr/>
        </p:nvSpPr>
        <p:spPr>
          <a:xfrm>
            <a:off x="4880000" y="8340000"/>
            <a:ext cx="240000" cy="175000"/>
          </a:xfrm>
          <a:prstGeom prst="downArrow">
            <a:avLst/>
          </a:prstGeom>
          <a:solidFill>
            <a:srgbClr val="0071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D6E4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6"/>
          <p:cNvGrpSpPr/>
          <p:nvPr/>
        </p:nvGrpSpPr>
        <p:grpSpPr>
          <a:xfrm>
            <a:off x="0" y="9356117"/>
            <a:ext cx="18297479" cy="930883"/>
            <a:chOff x="0" y="0"/>
            <a:chExt cx="24396638" cy="1241177"/>
          </a:xfrm>
        </p:grpSpPr>
        <p:grpSp>
          <p:nvGrpSpPr>
            <p:cNvPr id="7" name="Group 7"/>
            <p:cNvGrpSpPr/>
            <p:nvPr/>
          </p:nvGrpSpPr>
          <p:grpSpPr>
            <a:xfrm>
              <a:off x="0" y="0"/>
              <a:ext cx="24396638" cy="1241177"/>
              <a:chOff x="0" y="0"/>
              <a:chExt cx="3764913" cy="191540"/>
            </a:xfrm>
          </p:grpSpPr>
          <p:sp>
            <p:nvSpPr>
              <p:cNvPr id="8" name="Freeform 8"/>
              <p:cNvSpPr/>
              <p:nvPr/>
            </p:nvSpPr>
            <p:spPr>
              <a:xfrm>
                <a:off x="0" y="0"/>
                <a:ext cx="3764913" cy="191540"/>
              </a:xfrm>
              <a:custGeom>
                <a:avLst/>
                <a:gdLst/>
                <a:ahLst/>
                <a:cxnLst/>
                <a:rect l="l" t="t" r="r" b="b"/>
                <a:pathLst>
                  <a:path w="3764913" h="191540">
                    <a:moveTo>
                      <a:pt x="0" y="0"/>
                    </a:moveTo>
                    <a:lnTo>
                      <a:pt x="3764913" y="0"/>
                    </a:lnTo>
                    <a:lnTo>
                      <a:pt x="3764913" y="191540"/>
                    </a:lnTo>
                    <a:lnTo>
                      <a:pt x="0" y="191540"/>
                    </a:lnTo>
                    <a:close/>
                  </a:path>
                </a:pathLst>
              </a:custGeom>
              <a:solidFill>
                <a:srgbClr val="0071C1"/>
              </a:solidFill>
            </p:spPr>
            <p:txBody>
              <a:bodyPr/>
              <a:p/>
            </p:txBody>
          </p:sp>
          <p:sp>
            <p:nvSpPr>
              <p:cNvPr id="9" name="TextBox 9"/>
              <p:cNvSpPr txBox="1"/>
              <p:nvPr/>
            </p:nvSpPr>
            <p:spPr>
              <a:xfrm>
                <a:off x="0" y="-19050"/>
                <a:ext cx="3764913" cy="21059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124"/>
                  </a:lnSpc>
                </a:pPr>
                <a:endParaRPr/>
              </a:p>
              <a:p>
                <a:pPr algn="ctr">
                  <a:lnSpc>
                    <a:spcPts val="3124"/>
                  </a:lnSpc>
                </a:pPr>
                <a:endParaRPr/>
              </a:p>
            </p:txBody>
          </p:sp>
        </p:grpSp>
        <p:sp>
          <p:nvSpPr>
            <p:cNvPr id="10" name="TextBox 10"/>
            <p:cNvSpPr txBox="1"/>
            <p:nvPr/>
          </p:nvSpPr>
          <p:spPr>
            <a:xfrm>
              <a:off x="23493488" y="341188"/>
              <a:ext cx="248285" cy="53975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24"/>
                </a:lnSpc>
                <a:spcBef>
                  <a:spcPct val="0"/>
                </a:spcBef>
              </a:pPr>
              <a:r>
                <a:rPr lang="en-US" sz="2603">
                  <a:solidFill>
                    <a:srgbClr val="FFFFFF"/>
                  </a:solidFill>
                  <a:latin typeface="Georgia Pro"/>
                  <a:ea typeface="Georgia Pro"/>
                  <a:cs typeface="Georgia Pro"/>
                  <a:sym typeface="Georgia Pro"/>
                </a:rPr>
                <a:t>4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0722311" y="374128"/>
              <a:ext cx="2531269" cy="53975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24"/>
                </a:lnSpc>
                <a:spcBef>
                  <a:spcPct val="0"/>
                </a:spcBef>
              </a:pPr>
              <a:r>
                <a:rPr lang="en-US" sz="2603">
                  <a:solidFill>
                    <a:srgbClr val="FFFFFF"/>
                  </a:solidFill>
                  <a:latin typeface="Georgia Pro"/>
                  <a:ea typeface="Georgia Pro"/>
                  <a:cs typeface="Georgia Pro"/>
                  <a:sym typeface="Georgia Pro"/>
                </a:rPr>
                <a:t>AI – मंथन 2.0</a:t>
              </a:r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3437242" y="-20442"/>
            <a:ext cx="11413517" cy="900684"/>
            <a:chOff x="0" y="0"/>
            <a:chExt cx="15218022" cy="1200912"/>
          </a:xfrm>
        </p:grpSpPr>
        <p:grpSp>
          <p:nvGrpSpPr>
            <p:cNvPr id="13" name="Group 13"/>
            <p:cNvGrpSpPr/>
            <p:nvPr/>
          </p:nvGrpSpPr>
          <p:grpSpPr>
            <a:xfrm>
              <a:off x="0" y="27257"/>
              <a:ext cx="15218022" cy="1173656"/>
              <a:chOff x="0" y="0"/>
              <a:chExt cx="2703073" cy="208468"/>
            </a:xfrm>
          </p:grpSpPr>
          <p:sp>
            <p:nvSpPr>
              <p:cNvPr id="14" name="Freeform 14"/>
              <p:cNvSpPr/>
              <p:nvPr/>
            </p:nvSpPr>
            <p:spPr>
              <a:xfrm>
                <a:off x="0" y="0"/>
                <a:ext cx="2703073" cy="208468"/>
              </a:xfrm>
              <a:custGeom>
                <a:avLst/>
                <a:gdLst/>
                <a:ahLst/>
                <a:cxnLst/>
                <a:rect l="l" t="t" r="r" b="b"/>
                <a:pathLst>
                  <a:path w="2703073" h="208468">
                    <a:moveTo>
                      <a:pt x="29846" y="0"/>
                    </a:moveTo>
                    <a:lnTo>
                      <a:pt x="2673227" y="0"/>
                    </a:lnTo>
                    <a:cubicBezTo>
                      <a:pt x="2681143" y="0"/>
                      <a:pt x="2688734" y="3144"/>
                      <a:pt x="2694331" y="8742"/>
                    </a:cubicBezTo>
                    <a:cubicBezTo>
                      <a:pt x="2699929" y="14339"/>
                      <a:pt x="2703073" y="21930"/>
                      <a:pt x="2703073" y="29846"/>
                    </a:cubicBezTo>
                    <a:lnTo>
                      <a:pt x="2703073" y="178623"/>
                    </a:lnTo>
                    <a:cubicBezTo>
                      <a:pt x="2703073" y="195106"/>
                      <a:pt x="2689711" y="208468"/>
                      <a:pt x="2673227" y="208468"/>
                    </a:cubicBezTo>
                    <a:lnTo>
                      <a:pt x="29846" y="208468"/>
                    </a:lnTo>
                    <a:cubicBezTo>
                      <a:pt x="13362" y="208468"/>
                      <a:pt x="0" y="195106"/>
                      <a:pt x="0" y="178623"/>
                    </a:cubicBezTo>
                    <a:lnTo>
                      <a:pt x="0" y="29846"/>
                    </a:lnTo>
                    <a:cubicBezTo>
                      <a:pt x="0" y="13362"/>
                      <a:pt x="13362" y="0"/>
                      <a:pt x="29846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9050" cap="rnd">
                <a:gradFill>
                  <a:gsLst>
                    <a:gs pos="0">
                      <a:srgbClr val="5DE0E6">
                        <a:alpha val="100000"/>
                      </a:srgbClr>
                    </a:gs>
                    <a:gs pos="100000">
                      <a:srgbClr val="004AAD">
                        <a:alpha val="100000"/>
                      </a:srgbClr>
                    </a:gs>
                  </a:gsLst>
                  <a:lin ang="0"/>
                </a:gradFill>
                <a:prstDash val="solid"/>
                <a:round/>
              </a:ln>
            </p:spPr>
            <p:txBody>
              <a:bodyPr/>
              <a:p/>
            </p:txBody>
          </p:sp>
          <p:sp>
            <p:nvSpPr>
              <p:cNvPr id="15" name="TextBox 15"/>
              <p:cNvSpPr txBox="1"/>
              <p:nvPr/>
            </p:nvSpPr>
            <p:spPr>
              <a:xfrm>
                <a:off x="0" y="-19050"/>
                <a:ext cx="2703073" cy="227518"/>
              </a:xfrm>
              <a:prstGeom prst="rect">
                <a:avLst/>
              </a:prstGeom>
            </p:spPr>
            <p:txBody>
              <a:bodyPr lIns="158888" tIns="158888" rIns="158888" bIns="158888" rtlCol="0" anchor="ctr"/>
              <a:lstStyle/>
              <a:p>
                <a:pPr algn="just">
                  <a:lnSpc>
                    <a:spcPts val="982"/>
                  </a:lnSpc>
                </a:pPr>
                <a:endParaRPr/>
              </a:p>
            </p:txBody>
          </p:sp>
        </p:grpSp>
        <p:sp>
          <p:nvSpPr>
            <p:cNvPr id="16" name="Freeform 16"/>
            <p:cNvSpPr/>
            <p:nvPr/>
          </p:nvSpPr>
          <p:spPr>
            <a:xfrm>
              <a:off x="1273589" y="0"/>
              <a:ext cx="3225180" cy="1179721"/>
            </a:xfrm>
            <a:custGeom>
              <a:avLst/>
              <a:gdLst/>
              <a:ahLst/>
              <a:cxnLst/>
              <a:rect l="l" t="t" r="r" b="b"/>
              <a:pathLst>
                <a:path w="3225180" h="1179721">
                  <a:moveTo>
                    <a:pt x="0" y="0"/>
                  </a:moveTo>
                  <a:lnTo>
                    <a:pt x="3225180" y="0"/>
                  </a:lnTo>
                  <a:lnTo>
                    <a:pt x="3225180" y="1179721"/>
                  </a:lnTo>
                  <a:lnTo>
                    <a:pt x="0" y="117972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t="-1001" b="-1001"/>
              </a:stretch>
            </a:blipFill>
          </p:spPr>
          <p:txBody>
            <a:bodyPr/>
            <a:p/>
          </p:txBody>
        </p:sp>
        <p:sp>
          <p:nvSpPr>
            <p:cNvPr id="17" name="Freeform 17"/>
            <p:cNvSpPr/>
            <p:nvPr/>
          </p:nvSpPr>
          <p:spPr>
            <a:xfrm>
              <a:off x="5117010" y="194821"/>
              <a:ext cx="4314511" cy="838527"/>
            </a:xfrm>
            <a:custGeom>
              <a:avLst/>
              <a:gdLst/>
              <a:ahLst/>
              <a:cxnLst/>
              <a:rect l="l" t="t" r="r" b="b"/>
              <a:pathLst>
                <a:path w="4314511" h="838527">
                  <a:moveTo>
                    <a:pt x="0" y="0"/>
                  </a:moveTo>
                  <a:lnTo>
                    <a:pt x="4314511" y="0"/>
                  </a:lnTo>
                  <a:lnTo>
                    <a:pt x="4314511" y="838527"/>
                  </a:lnTo>
                  <a:lnTo>
                    <a:pt x="0" y="83852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t="-2002"/>
              </a:stretch>
            </a:blipFill>
            <a:ln cap="sq">
              <a:noFill/>
              <a:prstDash val="solid"/>
              <a:miter/>
            </a:ln>
          </p:spPr>
          <p:txBody>
            <a:bodyPr/>
            <a:p/>
          </p:txBody>
        </p:sp>
        <p:sp>
          <p:nvSpPr>
            <p:cNvPr id="18" name="Freeform 18"/>
            <p:cNvSpPr/>
            <p:nvPr/>
          </p:nvSpPr>
          <p:spPr>
            <a:xfrm>
              <a:off x="11047629" y="168317"/>
              <a:ext cx="2505724" cy="891536"/>
            </a:xfrm>
            <a:custGeom>
              <a:avLst/>
              <a:gdLst/>
              <a:ahLst/>
              <a:cxnLst/>
              <a:rect l="l" t="t" r="r" b="b"/>
              <a:pathLst>
                <a:path w="2505724" h="891536">
                  <a:moveTo>
                    <a:pt x="0" y="0"/>
                  </a:moveTo>
                  <a:lnTo>
                    <a:pt x="2505724" y="0"/>
                  </a:lnTo>
                  <a:lnTo>
                    <a:pt x="2505724" y="891535"/>
                  </a:lnTo>
                  <a:lnTo>
                    <a:pt x="0" y="89153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t="-1001" b="-1001"/>
              </a:stretch>
            </a:blipFill>
          </p:spPr>
          <p:txBody>
            <a:bodyPr/>
            <a:p/>
          </p:txBody>
        </p:sp>
      </p:grpSp>
      <p:grpSp>
        <p:nvGrpSpPr>
          <p:cNvPr id="19" name="Group 19"/>
          <p:cNvGrpSpPr/>
          <p:nvPr/>
        </p:nvGrpSpPr>
        <p:grpSpPr>
          <a:xfrm>
            <a:off x="384991" y="139597"/>
            <a:ext cx="1915887" cy="1249099"/>
            <a:chOff x="0" y="0"/>
            <a:chExt cx="2554516" cy="1665465"/>
          </a:xfrm>
        </p:grpSpPr>
        <p:sp>
          <p:nvSpPr>
            <p:cNvPr id="20" name="Freeform 20" descr="Your startup LOGO"/>
            <p:cNvSpPr/>
            <p:nvPr/>
          </p:nvSpPr>
          <p:spPr>
            <a:xfrm>
              <a:off x="0" y="0"/>
              <a:ext cx="2554478" cy="1665478"/>
            </a:xfrm>
            <a:custGeom>
              <a:avLst/>
              <a:gdLst/>
              <a:ahLst/>
              <a:cxnLst/>
              <a:rect l="l" t="t" r="r" b="b"/>
              <a:pathLst>
                <a:path w="2554478" h="1665478">
                  <a:moveTo>
                    <a:pt x="0" y="832739"/>
                  </a:moveTo>
                  <a:cubicBezTo>
                    <a:pt x="0" y="372872"/>
                    <a:pt x="571881" y="0"/>
                    <a:pt x="1277239" y="0"/>
                  </a:cubicBezTo>
                  <a:cubicBezTo>
                    <a:pt x="1982597" y="0"/>
                    <a:pt x="2554478" y="372872"/>
                    <a:pt x="2554478" y="832739"/>
                  </a:cubicBezTo>
                  <a:cubicBezTo>
                    <a:pt x="2554478" y="1292606"/>
                    <a:pt x="1982597" y="1665478"/>
                    <a:pt x="1277239" y="1665478"/>
                  </a:cubicBezTo>
                  <a:cubicBezTo>
                    <a:pt x="571881" y="1665478"/>
                    <a:pt x="0" y="1292606"/>
                    <a:pt x="0" y="832739"/>
                  </a:cubicBezTo>
                  <a:close/>
                </a:path>
              </a:pathLst>
            </a:custGeom>
            <a:solidFill>
              <a:srgbClr val="FFFFFF"/>
            </a:solidFill>
            <a:ln w="38100" cap="sq">
              <a:solidFill>
                <a:srgbClr val="8064A2"/>
              </a:solidFill>
              <a:prstDash val="solid"/>
              <a:miter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0" y="-57150"/>
              <a:ext cx="2554516" cy="172261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240"/>
                </a:lnSpc>
              </a:pPr>
              <a:r>
                <a:rPr lang="en-US" sz="2700">
                  <a:solidFill>
                    <a:srgbClr val="00000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BotS</a:t>
              </a:r>
            </a:p>
          </p:txBody>
        </p:sp>
      </p:grpSp>
      <p:sp>
        <p:nvSpPr>
          <p:cNvPr id="22" name="Freeform 22"/>
          <p:cNvSpPr/>
          <p:nvPr/>
        </p:nvSpPr>
        <p:spPr>
          <a:xfrm>
            <a:off x="15582684" y="0"/>
            <a:ext cx="2705316" cy="1715305"/>
          </a:xfrm>
          <a:custGeom>
            <a:avLst/>
            <a:gdLst/>
            <a:ahLst/>
            <a:cxnLst/>
            <a:rect l="l" t="t" r="r" b="b"/>
            <a:pathLst>
              <a:path w="2705316" h="1715305">
                <a:moveTo>
                  <a:pt x="0" y="0"/>
                </a:moveTo>
                <a:lnTo>
                  <a:pt x="2705316" y="0"/>
                </a:lnTo>
                <a:lnTo>
                  <a:pt x="2705316" y="1715305"/>
                </a:lnTo>
                <a:lnTo>
                  <a:pt x="0" y="1715305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r="-4909"/>
            </a:stretch>
          </a:blipFill>
        </p:spPr>
        <p:txBody>
          <a:bodyPr/>
          <a:p/>
        </p:txBody>
      </p:sp>
      <p:sp>
        <p:nvSpPr>
          <p:cNvPr id="534" name="Text 534"/>
          <p:cNvSpPr txBox="1"/>
          <p:nvPr/>
        </p:nvSpPr>
        <p:spPr>
          <a:xfrm>
            <a:off x="900000" y="1250000"/>
            <a:ext cx="16500000" cy="9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200" b="1" dirty="0">
                <a:solidFill>
                  <a:srgbClr val="000000"/>
                </a:solidFill>
                <a:latin typeface="Times New Roman"/>
                <a:cs typeface="Times New Roman"/>
              </a:rPr>
              <a:t>FEASIBILITY AND VIABILITY</a:t>
            </a:r>
          </a:p>
        </p:txBody>
      </p:sp>
      <p:sp>
        <p:nvSpPr>
          <p:cNvPr id="535" name="Card 535"/>
          <p:cNvSpPr/>
          <p:nvPr/>
        </p:nvSpPr>
        <p:spPr>
          <a:xfrm>
            <a:off x="800000" y="2450000"/>
            <a:ext cx="5200000" cy="67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071C1"/>
            </a:solidFill>
          </a:ln>
        </p:spPr>
        <p:txBody>
          <a:bodyPr wrap="square" lIns="180000" tIns="180000" rIns="180000" bIns="180000" rtlCol="0" anchor="t">
            <a:noAutofit/>
          </a:bodyPr>
          <a:lstStyle/>
          <a:p>
            <a:endParaRPr lang="en-US"/>
          </a:p>
        </p:txBody>
      </p:sp>
      <p:sp>
        <p:nvSpPr>
          <p:cNvPr id="536" name="CardHead 536"/>
          <p:cNvSpPr/>
          <p:nvPr/>
        </p:nvSpPr>
        <p:spPr>
          <a:xfrm>
            <a:off x="800000" y="2450000"/>
            <a:ext cx="5200000" cy="620000"/>
          </a:xfrm>
          <a:prstGeom prst="roundRect">
            <a:avLst>
              <a:gd name="adj" fmla="val 6000"/>
            </a:avLst>
          </a:prstGeom>
          <a:solidFill>
            <a:srgbClr val="0071C1"/>
          </a:solidFill>
          <a:ln>
            <a:noFill/>
          </a:ln>
        </p:spPr>
        <p:txBody>
          <a:bodyPr wrap="square" lIns="90000" tIns="90000" rIns="90000" bIns="9000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dirty="0">
                <a:solidFill>
                  <a:srgbClr val="FFFFFF"/>
                </a:solidFill>
                <a:latin typeface="Arial"/>
                <a:cs typeface="Arial"/>
              </a:rPr>
              <a:t>Feasibility</a:t>
            </a:r>
          </a:p>
        </p:txBody>
      </p:sp>
      <p:sp>
        <p:nvSpPr>
          <p:cNvPr id="537" name="Text 537"/>
          <p:cNvSpPr txBox="1"/>
          <p:nvPr/>
        </p:nvSpPr>
        <p:spPr>
          <a:xfrm>
            <a:off x="970000" y="3220000"/>
            <a:ext cx="4860000" cy="58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342900" indent="-342900" algn="l">
              <a:spcBef>
                <a:spcPts val="0"/>
              </a:spcBef>
              <a:spcAft>
                <a:spcPts val="700"/>
              </a:spcAft>
              <a:buFont typeface="Arial"/>
              <a:buChar char="•"/>
            </a:pPr>
            <a:r>
              <a:rPr lang="en-US" sz="2400" b="0" dirty="0">
                <a:solidFill>
                  <a:srgbClr val="000000"/>
                </a:solidFill>
                <a:latin typeface="Arial"/>
                <a:cs typeface="Arial"/>
              </a:rPr>
              <a:t>Full-stack prototype already working</a:t>
            </a:r>
          </a:p>
          <a:p>
            <a:pPr marL="342900" indent="-342900" algn="l">
              <a:spcBef>
                <a:spcPts val="0"/>
              </a:spcBef>
              <a:spcAft>
                <a:spcPts val="700"/>
              </a:spcAft>
              <a:buFont typeface="Arial"/>
              <a:buChar char="•"/>
            </a:pPr>
            <a:r>
              <a:rPr lang="en-US" sz="2400" b="0" dirty="0">
                <a:solidFill>
                  <a:srgbClr val="000000"/>
                </a:solidFill>
                <a:latin typeface="Arial"/>
                <a:cs typeface="Arial"/>
              </a:rPr>
              <a:t>Built on open-source tools and free-tier AI APIs</a:t>
            </a:r>
          </a:p>
          <a:p>
            <a:pPr marL="342900" indent="-342900" algn="l">
              <a:spcBef>
                <a:spcPts val="0"/>
              </a:spcBef>
              <a:spcAft>
                <a:spcPts val="700"/>
              </a:spcAft>
              <a:buFont typeface="Arial"/>
              <a:buChar char="•"/>
            </a:pPr>
            <a:r>
              <a:rPr lang="en-US" sz="2400" b="0" dirty="0">
                <a:solidFill>
                  <a:srgbClr val="000000"/>
                </a:solidFill>
                <a:latin typeface="Arial"/>
                <a:cs typeface="Arial"/>
              </a:rPr>
              <a:t>Estimated cost under ₹5 per session</a:t>
            </a:r>
          </a:p>
          <a:p>
            <a:pPr marL="342900" indent="-342900" algn="l">
              <a:spcBef>
                <a:spcPts val="0"/>
              </a:spcBef>
              <a:spcAft>
                <a:spcPts val="700"/>
              </a:spcAft>
              <a:buFont typeface="Arial"/>
              <a:buChar char="•"/>
            </a:pPr>
            <a:r>
              <a:rPr lang="en-US" sz="2400" b="0" dirty="0">
                <a:solidFill>
                  <a:srgbClr val="000000"/>
                </a:solidFill>
                <a:latin typeface="Arial"/>
                <a:cs typeface="Arial"/>
              </a:rPr>
              <a:t>Scales through campus training cells</a:t>
            </a:r>
          </a:p>
          <a:p>
            <a:pPr marL="342900" indent="-342900" algn="l">
              <a:spcBef>
                <a:spcPts val="0"/>
              </a:spcBef>
              <a:spcAft>
                <a:spcPts val="700"/>
              </a:spcAft>
              <a:buFont typeface="Arial"/>
              <a:buChar char="•"/>
            </a:pPr>
            <a:r>
              <a:rPr lang="en-US" sz="2400" b="0" dirty="0">
                <a:solidFill>
                  <a:srgbClr val="000000"/>
                </a:solidFill>
                <a:latin typeface="Arial"/>
                <a:cs typeface="Arial"/>
              </a:rPr>
              <a:t>Modular agents: each can be upgraded alone</a:t>
            </a:r>
          </a:p>
          <a:p>
            <a:pPr marL="342900" indent="-342900" algn="l">
              <a:spcBef>
                <a:spcPts val="0"/>
              </a:spcBef>
              <a:spcAft>
                <a:spcPts val="700"/>
              </a:spcAft>
              <a:buFont typeface="Arial"/>
              <a:buChar char="•"/>
            </a:pPr>
            <a:r>
              <a:rPr lang="en-US" sz="2400" b="0" dirty="0">
                <a:solidFill>
                  <a:srgbClr val="000000"/>
                </a:solidFill>
                <a:latin typeface="Arial"/>
                <a:cs typeface="Arial"/>
              </a:rPr>
              <a:t>Plan: pilot in colleges, then scale</a:t>
            </a:r>
          </a:p>
        </p:txBody>
      </p:sp>
      <p:sp>
        <p:nvSpPr>
          <p:cNvPr id="538" name="H 538"/>
          <p:cNvSpPr/>
          <p:nvPr/>
        </p:nvSpPr>
        <p:spPr>
          <a:xfrm>
            <a:off x="6300000" y="2450000"/>
            <a:ext cx="5450000" cy="620000"/>
          </a:xfrm>
          <a:prstGeom prst="roundRect">
            <a:avLst>
              <a:gd name="adj" fmla="val 6000"/>
            </a:avLst>
          </a:prstGeom>
          <a:solidFill>
            <a:srgbClr val="1F497D"/>
          </a:solidFill>
          <a:ln>
            <a:noFill/>
          </a:ln>
        </p:spPr>
        <p:txBody>
          <a:bodyPr wrap="square" lIns="60000" tIns="60000" rIns="60000" bIns="6000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dirty="0">
                <a:solidFill>
                  <a:srgbClr val="FFFFFF"/>
                </a:solidFill>
                <a:latin typeface="Arial"/>
                <a:cs typeface="Arial"/>
              </a:rPr>
              <a:t>Challenges and Risks</a:t>
            </a:r>
          </a:p>
        </p:txBody>
      </p:sp>
      <p:sp>
        <p:nvSpPr>
          <p:cNvPr id="539" name="H 539"/>
          <p:cNvSpPr/>
          <p:nvPr/>
        </p:nvSpPr>
        <p:spPr>
          <a:xfrm>
            <a:off x="12050000" y="2450000"/>
            <a:ext cx="5450000" cy="620000"/>
          </a:xfrm>
          <a:prstGeom prst="roundRect">
            <a:avLst>
              <a:gd name="adj" fmla="val 6000"/>
            </a:avLst>
          </a:prstGeom>
          <a:solidFill>
            <a:srgbClr val="0071C1"/>
          </a:solidFill>
          <a:ln>
            <a:noFill/>
          </a:ln>
        </p:spPr>
        <p:txBody>
          <a:bodyPr wrap="square" lIns="60000" tIns="60000" rIns="60000" bIns="6000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dirty="0">
                <a:solidFill>
                  <a:srgbClr val="FFFFFF"/>
                </a:solidFill>
                <a:latin typeface="Arial"/>
                <a:cs typeface="Arial"/>
              </a:rPr>
              <a:t>Strategies to Overcome</a:t>
            </a:r>
          </a:p>
        </p:txBody>
      </p:sp>
      <p:sp>
        <p:nvSpPr>
          <p:cNvPr id="540" name="Risk 540"/>
          <p:cNvSpPr/>
          <p:nvPr/>
        </p:nvSpPr>
        <p:spPr>
          <a:xfrm>
            <a:off x="6300000" y="3220000"/>
            <a:ext cx="5450000" cy="148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F497D"/>
            </a:solidFill>
          </a:ln>
        </p:spPr>
        <p:txBody>
          <a:bodyPr wrap="square" lIns="130000" tIns="130000" rIns="130000" bIns="13000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dirty="0">
                <a:solidFill>
                  <a:srgbClr val="000000"/>
                </a:solidFill>
                <a:latin typeface="Arial"/>
                <a:cs typeface="Arial"/>
              </a:rPr>
              <a:t>AI API limits and cost</a:t>
            </a:r>
          </a:p>
        </p:txBody>
      </p:sp>
      <p:sp>
        <p:nvSpPr>
          <p:cNvPr id="541" name="Fix 541"/>
          <p:cNvSpPr/>
          <p:nvPr/>
        </p:nvSpPr>
        <p:spPr>
          <a:xfrm>
            <a:off x="12050000" y="3220000"/>
            <a:ext cx="5450000" cy="148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071C1"/>
            </a:solidFill>
          </a:ln>
        </p:spPr>
        <p:txBody>
          <a:bodyPr wrap="square" lIns="130000" tIns="130000" rIns="130000" bIns="13000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dirty="0">
                <a:solidFill>
                  <a:srgbClr val="000000"/>
                </a:solidFill>
                <a:latin typeface="Arial"/>
                <a:cs typeface="Arial"/>
              </a:rPr>
              <a:t>Multi-model failover: Groq, Gemini, local Ollama</a:t>
            </a:r>
          </a:p>
        </p:txBody>
      </p:sp>
      <p:sp>
        <p:nvSpPr>
          <p:cNvPr id="542" name="Arrow 542"/>
          <p:cNvSpPr/>
          <p:nvPr/>
        </p:nvSpPr>
        <p:spPr>
          <a:xfrm>
            <a:off x="11780000" y="3810000"/>
            <a:ext cx="240000" cy="300000"/>
          </a:xfrm>
          <a:prstGeom prst="rightArrow">
            <a:avLst/>
          </a:prstGeom>
          <a:solidFill>
            <a:srgbClr val="0071C1"/>
          </a:solidFill>
          <a:ln>
            <a:noFill/>
          </a:ln>
        </p:spPr>
        <p:txBody>
          <a:bodyPr wrap="square" lIns="180000" tIns="180000" rIns="180000" bIns="180000" rtlCol="0" anchor="t">
            <a:noAutofit/>
          </a:bodyPr>
          <a:lstStyle/>
          <a:p>
            <a:endParaRPr lang="en-US"/>
          </a:p>
        </p:txBody>
      </p:sp>
      <p:sp>
        <p:nvSpPr>
          <p:cNvPr id="543" name="Risk 543"/>
          <p:cNvSpPr/>
          <p:nvPr/>
        </p:nvSpPr>
        <p:spPr>
          <a:xfrm>
            <a:off x="6300000" y="4810000"/>
            <a:ext cx="5450000" cy="148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F497D"/>
            </a:solidFill>
          </a:ln>
        </p:spPr>
        <p:txBody>
          <a:bodyPr wrap="square" lIns="130000" tIns="130000" rIns="130000" bIns="13000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dirty="0">
                <a:solidFill>
                  <a:srgbClr val="000000"/>
                </a:solidFill>
                <a:latin typeface="Arial"/>
                <a:cs typeface="Arial"/>
              </a:rPr>
              <a:t>Webcam privacy</a:t>
            </a:r>
          </a:p>
        </p:txBody>
      </p:sp>
      <p:sp>
        <p:nvSpPr>
          <p:cNvPr id="544" name="Fix 544"/>
          <p:cNvSpPr/>
          <p:nvPr/>
        </p:nvSpPr>
        <p:spPr>
          <a:xfrm>
            <a:off x="12050000" y="4810000"/>
            <a:ext cx="5450000" cy="148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071C1"/>
            </a:solidFill>
          </a:ln>
        </p:spPr>
        <p:txBody>
          <a:bodyPr wrap="square" lIns="130000" tIns="130000" rIns="130000" bIns="13000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dirty="0">
                <a:solidFill>
                  <a:srgbClr val="000000"/>
                </a:solidFill>
                <a:latin typeface="Arial"/>
                <a:cs typeface="Arial"/>
              </a:rPr>
              <a:t>Consent first. Only posture and eye-contact scores are used</a:t>
            </a:r>
          </a:p>
        </p:txBody>
      </p:sp>
      <p:sp>
        <p:nvSpPr>
          <p:cNvPr id="545" name="Arrow 545"/>
          <p:cNvSpPr/>
          <p:nvPr/>
        </p:nvSpPr>
        <p:spPr>
          <a:xfrm>
            <a:off x="11780000" y="5400000"/>
            <a:ext cx="240000" cy="300000"/>
          </a:xfrm>
          <a:prstGeom prst="rightArrow">
            <a:avLst/>
          </a:prstGeom>
          <a:solidFill>
            <a:srgbClr val="0071C1"/>
          </a:solidFill>
          <a:ln>
            <a:noFill/>
          </a:ln>
        </p:spPr>
        <p:txBody>
          <a:bodyPr wrap="square" lIns="180000" tIns="180000" rIns="180000" bIns="180000" rtlCol="0" anchor="t">
            <a:noAutofit/>
          </a:bodyPr>
          <a:lstStyle/>
          <a:p>
            <a:endParaRPr lang="en-US"/>
          </a:p>
        </p:txBody>
      </p:sp>
      <p:sp>
        <p:nvSpPr>
          <p:cNvPr id="546" name="Risk 546"/>
          <p:cNvSpPr/>
          <p:nvPr/>
        </p:nvSpPr>
        <p:spPr>
          <a:xfrm>
            <a:off x="6300000" y="6400000"/>
            <a:ext cx="5450000" cy="148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F497D"/>
            </a:solidFill>
          </a:ln>
        </p:spPr>
        <p:txBody>
          <a:bodyPr wrap="square" lIns="130000" tIns="130000" rIns="130000" bIns="13000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dirty="0">
                <a:solidFill>
                  <a:srgbClr val="000000"/>
                </a:solidFill>
                <a:latin typeface="Arial"/>
                <a:cs typeface="Arial"/>
              </a:rPr>
              <a:t>Wrong or dead study links</a:t>
            </a:r>
          </a:p>
        </p:txBody>
      </p:sp>
      <p:sp>
        <p:nvSpPr>
          <p:cNvPr id="547" name="Fix 547"/>
          <p:cNvSpPr/>
          <p:nvPr/>
        </p:nvSpPr>
        <p:spPr>
          <a:xfrm>
            <a:off x="12050000" y="6400000"/>
            <a:ext cx="5450000" cy="148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071C1"/>
            </a:solidFill>
          </a:ln>
        </p:spPr>
        <p:txBody>
          <a:bodyPr wrap="square" lIns="130000" tIns="130000" rIns="130000" bIns="13000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dirty="0">
                <a:solidFill>
                  <a:srgbClr val="000000"/>
                </a:solidFill>
                <a:latin typeface="Arial"/>
                <a:cs typeface="Arial"/>
              </a:rPr>
              <a:t>Deterministic search plus link checks</a:t>
            </a:r>
          </a:p>
        </p:txBody>
      </p:sp>
      <p:sp>
        <p:nvSpPr>
          <p:cNvPr id="548" name="Arrow 548"/>
          <p:cNvSpPr/>
          <p:nvPr/>
        </p:nvSpPr>
        <p:spPr>
          <a:xfrm>
            <a:off x="11780000" y="6990000"/>
            <a:ext cx="240000" cy="300000"/>
          </a:xfrm>
          <a:prstGeom prst="rightArrow">
            <a:avLst/>
          </a:prstGeom>
          <a:solidFill>
            <a:srgbClr val="0071C1"/>
          </a:solidFill>
          <a:ln>
            <a:noFill/>
          </a:ln>
        </p:spPr>
        <p:txBody>
          <a:bodyPr wrap="square" lIns="180000" tIns="180000" rIns="180000" bIns="180000" rtlCol="0" anchor="t">
            <a:noAutofit/>
          </a:bodyPr>
          <a:lstStyle/>
          <a:p>
            <a:endParaRPr lang="en-US"/>
          </a:p>
        </p:txBody>
      </p:sp>
      <p:sp>
        <p:nvSpPr>
          <p:cNvPr id="549" name="Risk 549"/>
          <p:cNvSpPr/>
          <p:nvPr/>
        </p:nvSpPr>
        <p:spPr>
          <a:xfrm>
            <a:off x="6300000" y="7990000"/>
            <a:ext cx="5450000" cy="148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F497D"/>
            </a:solidFill>
          </a:ln>
        </p:spPr>
        <p:txBody>
          <a:bodyPr wrap="square" lIns="130000" tIns="130000" rIns="130000" bIns="13000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dirty="0">
                <a:solidFill>
                  <a:srgbClr val="000000"/>
                </a:solidFill>
                <a:latin typeface="Arial"/>
                <a:cs typeface="Arial"/>
              </a:rPr>
              <a:t>Weak internet in Tier-2/3 colleges</a:t>
            </a:r>
          </a:p>
        </p:txBody>
      </p:sp>
      <p:sp>
        <p:nvSpPr>
          <p:cNvPr id="550" name="Fix 550"/>
          <p:cNvSpPr/>
          <p:nvPr/>
        </p:nvSpPr>
        <p:spPr>
          <a:xfrm>
            <a:off x="12050000" y="7990000"/>
            <a:ext cx="5450000" cy="148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071C1"/>
            </a:solidFill>
          </a:ln>
        </p:spPr>
        <p:txBody>
          <a:bodyPr wrap="square" lIns="130000" tIns="130000" rIns="130000" bIns="13000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dirty="0">
                <a:solidFill>
                  <a:srgbClr val="000000"/>
                </a:solidFill>
                <a:latin typeface="Arial"/>
                <a:cs typeface="Arial"/>
              </a:rPr>
              <a:t>Offline fallback and browser-based speech</a:t>
            </a:r>
          </a:p>
        </p:txBody>
      </p:sp>
      <p:sp>
        <p:nvSpPr>
          <p:cNvPr id="551" name="Arrow 551"/>
          <p:cNvSpPr/>
          <p:nvPr/>
        </p:nvSpPr>
        <p:spPr>
          <a:xfrm>
            <a:off x="11780000" y="8580000"/>
            <a:ext cx="240000" cy="300000"/>
          </a:xfrm>
          <a:prstGeom prst="rightArrow">
            <a:avLst/>
          </a:prstGeom>
          <a:solidFill>
            <a:srgbClr val="0071C1"/>
          </a:solidFill>
          <a:ln>
            <a:noFill/>
          </a:ln>
        </p:spPr>
        <p:txBody>
          <a:bodyPr wrap="square" lIns="180000" tIns="180000" rIns="180000" bIns="180000" rtlCol="0" anchor="t">
            <a:noAutofit/>
          </a:bodyPr>
          <a:lstStyle/>
          <a:p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D6E4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6"/>
          <p:cNvGrpSpPr/>
          <p:nvPr/>
        </p:nvGrpSpPr>
        <p:grpSpPr>
          <a:xfrm>
            <a:off x="0" y="9356117"/>
            <a:ext cx="18297479" cy="930883"/>
            <a:chOff x="0" y="0"/>
            <a:chExt cx="24396638" cy="1241177"/>
          </a:xfrm>
        </p:grpSpPr>
        <p:grpSp>
          <p:nvGrpSpPr>
            <p:cNvPr id="7" name="Group 7"/>
            <p:cNvGrpSpPr/>
            <p:nvPr/>
          </p:nvGrpSpPr>
          <p:grpSpPr>
            <a:xfrm>
              <a:off x="0" y="0"/>
              <a:ext cx="24396638" cy="1241177"/>
              <a:chOff x="0" y="0"/>
              <a:chExt cx="3764913" cy="191540"/>
            </a:xfrm>
          </p:grpSpPr>
          <p:sp>
            <p:nvSpPr>
              <p:cNvPr id="8" name="Freeform 8"/>
              <p:cNvSpPr/>
              <p:nvPr/>
            </p:nvSpPr>
            <p:spPr>
              <a:xfrm>
                <a:off x="0" y="0"/>
                <a:ext cx="3764913" cy="191540"/>
              </a:xfrm>
              <a:custGeom>
                <a:avLst/>
                <a:gdLst/>
                <a:ahLst/>
                <a:cxnLst/>
                <a:rect l="l" t="t" r="r" b="b"/>
                <a:pathLst>
                  <a:path w="3764913" h="191540">
                    <a:moveTo>
                      <a:pt x="0" y="0"/>
                    </a:moveTo>
                    <a:lnTo>
                      <a:pt x="3764913" y="0"/>
                    </a:lnTo>
                    <a:lnTo>
                      <a:pt x="3764913" y="191540"/>
                    </a:lnTo>
                    <a:lnTo>
                      <a:pt x="0" y="191540"/>
                    </a:lnTo>
                    <a:close/>
                  </a:path>
                </a:pathLst>
              </a:custGeom>
              <a:solidFill>
                <a:srgbClr val="0071C1"/>
              </a:solidFill>
            </p:spPr>
            <p:txBody>
              <a:bodyPr/>
              <a:p/>
            </p:txBody>
          </p:sp>
          <p:sp>
            <p:nvSpPr>
              <p:cNvPr id="9" name="TextBox 9"/>
              <p:cNvSpPr txBox="1"/>
              <p:nvPr/>
            </p:nvSpPr>
            <p:spPr>
              <a:xfrm>
                <a:off x="0" y="-19050"/>
                <a:ext cx="3764913" cy="21059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124"/>
                  </a:lnSpc>
                </a:pPr>
                <a:endParaRPr/>
              </a:p>
              <a:p>
                <a:pPr algn="ctr">
                  <a:lnSpc>
                    <a:spcPts val="3124"/>
                  </a:lnSpc>
                </a:pPr>
                <a:endParaRPr/>
              </a:p>
            </p:txBody>
          </p:sp>
        </p:grpSp>
        <p:sp>
          <p:nvSpPr>
            <p:cNvPr id="10" name="TextBox 10"/>
            <p:cNvSpPr txBox="1"/>
            <p:nvPr/>
          </p:nvSpPr>
          <p:spPr>
            <a:xfrm>
              <a:off x="23493488" y="341188"/>
              <a:ext cx="248285" cy="53975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24"/>
                </a:lnSpc>
                <a:spcBef>
                  <a:spcPct val="0"/>
                </a:spcBef>
              </a:pPr>
              <a:r>
                <a:rPr lang="en-US" sz="2603">
                  <a:solidFill>
                    <a:srgbClr val="FFFFFF"/>
                  </a:solidFill>
                  <a:latin typeface="Georgia Pro"/>
                  <a:ea typeface="Georgia Pro"/>
                  <a:cs typeface="Georgia Pro"/>
                  <a:sym typeface="Georgia Pro"/>
                </a:rPr>
                <a:t>5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0722311" y="374128"/>
              <a:ext cx="2531269" cy="53975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24"/>
                </a:lnSpc>
                <a:spcBef>
                  <a:spcPct val="0"/>
                </a:spcBef>
              </a:pPr>
              <a:r>
                <a:rPr lang="en-US" sz="2603">
                  <a:solidFill>
                    <a:srgbClr val="FFFFFF"/>
                  </a:solidFill>
                  <a:latin typeface="Georgia Pro"/>
                  <a:ea typeface="Georgia Pro"/>
                  <a:cs typeface="Georgia Pro"/>
                  <a:sym typeface="Georgia Pro"/>
                </a:rPr>
                <a:t>AI – मंथन 2.0</a:t>
              </a:r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3437242" y="-20442"/>
            <a:ext cx="11413517" cy="900684"/>
            <a:chOff x="0" y="0"/>
            <a:chExt cx="15218022" cy="1200912"/>
          </a:xfrm>
        </p:grpSpPr>
        <p:grpSp>
          <p:nvGrpSpPr>
            <p:cNvPr id="13" name="Group 13"/>
            <p:cNvGrpSpPr/>
            <p:nvPr/>
          </p:nvGrpSpPr>
          <p:grpSpPr>
            <a:xfrm>
              <a:off x="0" y="27257"/>
              <a:ext cx="15218022" cy="1173656"/>
              <a:chOff x="0" y="0"/>
              <a:chExt cx="2703073" cy="208468"/>
            </a:xfrm>
          </p:grpSpPr>
          <p:sp>
            <p:nvSpPr>
              <p:cNvPr id="14" name="Freeform 14"/>
              <p:cNvSpPr/>
              <p:nvPr/>
            </p:nvSpPr>
            <p:spPr>
              <a:xfrm>
                <a:off x="0" y="0"/>
                <a:ext cx="2703073" cy="208468"/>
              </a:xfrm>
              <a:custGeom>
                <a:avLst/>
                <a:gdLst/>
                <a:ahLst/>
                <a:cxnLst/>
                <a:rect l="l" t="t" r="r" b="b"/>
                <a:pathLst>
                  <a:path w="2703073" h="208468">
                    <a:moveTo>
                      <a:pt x="29846" y="0"/>
                    </a:moveTo>
                    <a:lnTo>
                      <a:pt x="2673227" y="0"/>
                    </a:lnTo>
                    <a:cubicBezTo>
                      <a:pt x="2681143" y="0"/>
                      <a:pt x="2688734" y="3144"/>
                      <a:pt x="2694331" y="8742"/>
                    </a:cubicBezTo>
                    <a:cubicBezTo>
                      <a:pt x="2699929" y="14339"/>
                      <a:pt x="2703073" y="21930"/>
                      <a:pt x="2703073" y="29846"/>
                    </a:cubicBezTo>
                    <a:lnTo>
                      <a:pt x="2703073" y="178623"/>
                    </a:lnTo>
                    <a:cubicBezTo>
                      <a:pt x="2703073" y="195106"/>
                      <a:pt x="2689711" y="208468"/>
                      <a:pt x="2673227" y="208468"/>
                    </a:cubicBezTo>
                    <a:lnTo>
                      <a:pt x="29846" y="208468"/>
                    </a:lnTo>
                    <a:cubicBezTo>
                      <a:pt x="13362" y="208468"/>
                      <a:pt x="0" y="195106"/>
                      <a:pt x="0" y="178623"/>
                    </a:cubicBezTo>
                    <a:lnTo>
                      <a:pt x="0" y="29846"/>
                    </a:lnTo>
                    <a:cubicBezTo>
                      <a:pt x="0" y="13362"/>
                      <a:pt x="13362" y="0"/>
                      <a:pt x="29846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9050" cap="rnd">
                <a:gradFill>
                  <a:gsLst>
                    <a:gs pos="0">
                      <a:srgbClr val="5DE0E6">
                        <a:alpha val="100000"/>
                      </a:srgbClr>
                    </a:gs>
                    <a:gs pos="100000">
                      <a:srgbClr val="004AAD">
                        <a:alpha val="100000"/>
                      </a:srgbClr>
                    </a:gs>
                  </a:gsLst>
                  <a:lin ang="0"/>
                </a:gradFill>
                <a:prstDash val="solid"/>
                <a:round/>
              </a:ln>
            </p:spPr>
            <p:txBody>
              <a:bodyPr/>
              <a:p/>
            </p:txBody>
          </p:sp>
          <p:sp>
            <p:nvSpPr>
              <p:cNvPr id="15" name="TextBox 15"/>
              <p:cNvSpPr txBox="1"/>
              <p:nvPr/>
            </p:nvSpPr>
            <p:spPr>
              <a:xfrm>
                <a:off x="0" y="-19050"/>
                <a:ext cx="2703073" cy="227518"/>
              </a:xfrm>
              <a:prstGeom prst="rect">
                <a:avLst/>
              </a:prstGeom>
            </p:spPr>
            <p:txBody>
              <a:bodyPr lIns="158888" tIns="158888" rIns="158888" bIns="158888" rtlCol="0" anchor="ctr"/>
              <a:lstStyle/>
              <a:p>
                <a:pPr algn="just">
                  <a:lnSpc>
                    <a:spcPts val="982"/>
                  </a:lnSpc>
                </a:pPr>
                <a:endParaRPr/>
              </a:p>
            </p:txBody>
          </p:sp>
        </p:grpSp>
        <p:sp>
          <p:nvSpPr>
            <p:cNvPr id="16" name="Freeform 16"/>
            <p:cNvSpPr/>
            <p:nvPr/>
          </p:nvSpPr>
          <p:spPr>
            <a:xfrm>
              <a:off x="1273589" y="0"/>
              <a:ext cx="3225180" cy="1179721"/>
            </a:xfrm>
            <a:custGeom>
              <a:avLst/>
              <a:gdLst/>
              <a:ahLst/>
              <a:cxnLst/>
              <a:rect l="l" t="t" r="r" b="b"/>
              <a:pathLst>
                <a:path w="3225180" h="1179721">
                  <a:moveTo>
                    <a:pt x="0" y="0"/>
                  </a:moveTo>
                  <a:lnTo>
                    <a:pt x="3225180" y="0"/>
                  </a:lnTo>
                  <a:lnTo>
                    <a:pt x="3225180" y="1179721"/>
                  </a:lnTo>
                  <a:lnTo>
                    <a:pt x="0" y="117972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t="-1001" b="-1001"/>
              </a:stretch>
            </a:blipFill>
          </p:spPr>
          <p:txBody>
            <a:bodyPr/>
            <a:p/>
          </p:txBody>
        </p:sp>
        <p:sp>
          <p:nvSpPr>
            <p:cNvPr id="17" name="Freeform 17"/>
            <p:cNvSpPr/>
            <p:nvPr/>
          </p:nvSpPr>
          <p:spPr>
            <a:xfrm>
              <a:off x="5117010" y="194821"/>
              <a:ext cx="4314511" cy="838527"/>
            </a:xfrm>
            <a:custGeom>
              <a:avLst/>
              <a:gdLst/>
              <a:ahLst/>
              <a:cxnLst/>
              <a:rect l="l" t="t" r="r" b="b"/>
              <a:pathLst>
                <a:path w="4314511" h="838527">
                  <a:moveTo>
                    <a:pt x="0" y="0"/>
                  </a:moveTo>
                  <a:lnTo>
                    <a:pt x="4314511" y="0"/>
                  </a:lnTo>
                  <a:lnTo>
                    <a:pt x="4314511" y="838527"/>
                  </a:lnTo>
                  <a:lnTo>
                    <a:pt x="0" y="83852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t="-2002"/>
              </a:stretch>
            </a:blipFill>
            <a:ln cap="sq">
              <a:noFill/>
              <a:prstDash val="solid"/>
              <a:miter/>
            </a:ln>
          </p:spPr>
          <p:txBody>
            <a:bodyPr/>
            <a:p/>
          </p:txBody>
        </p:sp>
        <p:sp>
          <p:nvSpPr>
            <p:cNvPr id="18" name="Freeform 18"/>
            <p:cNvSpPr/>
            <p:nvPr/>
          </p:nvSpPr>
          <p:spPr>
            <a:xfrm>
              <a:off x="11047629" y="168317"/>
              <a:ext cx="2505724" cy="891536"/>
            </a:xfrm>
            <a:custGeom>
              <a:avLst/>
              <a:gdLst/>
              <a:ahLst/>
              <a:cxnLst/>
              <a:rect l="l" t="t" r="r" b="b"/>
              <a:pathLst>
                <a:path w="2505724" h="891536">
                  <a:moveTo>
                    <a:pt x="0" y="0"/>
                  </a:moveTo>
                  <a:lnTo>
                    <a:pt x="2505724" y="0"/>
                  </a:lnTo>
                  <a:lnTo>
                    <a:pt x="2505724" y="891535"/>
                  </a:lnTo>
                  <a:lnTo>
                    <a:pt x="0" y="89153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t="-1001" b="-1001"/>
              </a:stretch>
            </a:blipFill>
          </p:spPr>
          <p:txBody>
            <a:bodyPr/>
            <a:p/>
          </p:txBody>
        </p:sp>
      </p:grpSp>
      <p:grpSp>
        <p:nvGrpSpPr>
          <p:cNvPr id="19" name="Group 19"/>
          <p:cNvGrpSpPr/>
          <p:nvPr/>
        </p:nvGrpSpPr>
        <p:grpSpPr>
          <a:xfrm>
            <a:off x="384991" y="139597"/>
            <a:ext cx="1915887" cy="1249099"/>
            <a:chOff x="0" y="0"/>
            <a:chExt cx="2554516" cy="1665465"/>
          </a:xfrm>
        </p:grpSpPr>
        <p:sp>
          <p:nvSpPr>
            <p:cNvPr id="20" name="Freeform 20" descr="Your startup LOGO"/>
            <p:cNvSpPr/>
            <p:nvPr/>
          </p:nvSpPr>
          <p:spPr>
            <a:xfrm>
              <a:off x="0" y="0"/>
              <a:ext cx="2554478" cy="1665478"/>
            </a:xfrm>
            <a:custGeom>
              <a:avLst/>
              <a:gdLst/>
              <a:ahLst/>
              <a:cxnLst/>
              <a:rect l="l" t="t" r="r" b="b"/>
              <a:pathLst>
                <a:path w="2554478" h="1665478">
                  <a:moveTo>
                    <a:pt x="0" y="832739"/>
                  </a:moveTo>
                  <a:cubicBezTo>
                    <a:pt x="0" y="372872"/>
                    <a:pt x="571881" y="0"/>
                    <a:pt x="1277239" y="0"/>
                  </a:cubicBezTo>
                  <a:cubicBezTo>
                    <a:pt x="1982597" y="0"/>
                    <a:pt x="2554478" y="372872"/>
                    <a:pt x="2554478" y="832739"/>
                  </a:cubicBezTo>
                  <a:cubicBezTo>
                    <a:pt x="2554478" y="1292606"/>
                    <a:pt x="1982597" y="1665478"/>
                    <a:pt x="1277239" y="1665478"/>
                  </a:cubicBezTo>
                  <a:cubicBezTo>
                    <a:pt x="571881" y="1665478"/>
                    <a:pt x="0" y="1292606"/>
                    <a:pt x="0" y="832739"/>
                  </a:cubicBezTo>
                  <a:close/>
                </a:path>
              </a:pathLst>
            </a:custGeom>
            <a:solidFill>
              <a:srgbClr val="FFFFFF"/>
            </a:solidFill>
            <a:ln w="38100" cap="sq">
              <a:solidFill>
                <a:srgbClr val="8064A2"/>
              </a:solidFill>
              <a:prstDash val="solid"/>
              <a:miter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0" y="-57150"/>
              <a:ext cx="2554516" cy="172261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240"/>
                </a:lnSpc>
              </a:pPr>
              <a:r>
                <a:rPr lang="en-US" sz="2700">
                  <a:solidFill>
                    <a:srgbClr val="00000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BotS</a:t>
              </a:r>
            </a:p>
          </p:txBody>
        </p:sp>
      </p:grpSp>
      <p:sp>
        <p:nvSpPr>
          <p:cNvPr id="22" name="Freeform 22"/>
          <p:cNvSpPr/>
          <p:nvPr/>
        </p:nvSpPr>
        <p:spPr>
          <a:xfrm>
            <a:off x="15582684" y="0"/>
            <a:ext cx="2705316" cy="1715305"/>
          </a:xfrm>
          <a:custGeom>
            <a:avLst/>
            <a:gdLst/>
            <a:ahLst/>
            <a:cxnLst/>
            <a:rect l="l" t="t" r="r" b="b"/>
            <a:pathLst>
              <a:path w="2705316" h="1715305">
                <a:moveTo>
                  <a:pt x="0" y="0"/>
                </a:moveTo>
                <a:lnTo>
                  <a:pt x="2705316" y="0"/>
                </a:lnTo>
                <a:lnTo>
                  <a:pt x="2705316" y="1715305"/>
                </a:lnTo>
                <a:lnTo>
                  <a:pt x="0" y="1715305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r="-4909"/>
            </a:stretch>
          </a:blipFill>
        </p:spPr>
        <p:txBody>
          <a:bodyPr/>
          <a:p/>
        </p:txBody>
      </p:sp>
      <p:sp>
        <p:nvSpPr>
          <p:cNvPr id="552" name="Text 552"/>
          <p:cNvSpPr txBox="1"/>
          <p:nvPr/>
        </p:nvSpPr>
        <p:spPr>
          <a:xfrm>
            <a:off x="900000" y="1250000"/>
            <a:ext cx="16500000" cy="9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200" b="1" dirty="0">
                <a:solidFill>
                  <a:srgbClr val="000000"/>
                </a:solidFill>
                <a:latin typeface="Times New Roman"/>
                <a:cs typeface="Times New Roman"/>
              </a:rPr>
              <a:t>IMPACT AND BENEFITS</a:t>
            </a:r>
          </a:p>
        </p:txBody>
      </p:sp>
      <p:sp>
        <p:nvSpPr>
          <p:cNvPr id="553" name="Card 553"/>
          <p:cNvSpPr/>
          <p:nvPr/>
        </p:nvSpPr>
        <p:spPr>
          <a:xfrm>
            <a:off x="800000" y="2450000"/>
            <a:ext cx="5200000" cy="53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071C1"/>
            </a:solidFill>
          </a:ln>
        </p:spPr>
        <p:txBody>
          <a:bodyPr wrap="square" lIns="180000" tIns="180000" rIns="180000" bIns="180000" rtlCol="0" anchor="t">
            <a:noAutofit/>
          </a:bodyPr>
          <a:lstStyle/>
          <a:p>
            <a:endParaRPr lang="en-US"/>
          </a:p>
        </p:txBody>
      </p:sp>
      <p:sp>
        <p:nvSpPr>
          <p:cNvPr id="554" name="CardHead 554"/>
          <p:cNvSpPr/>
          <p:nvPr/>
        </p:nvSpPr>
        <p:spPr>
          <a:xfrm>
            <a:off x="800000" y="2450000"/>
            <a:ext cx="5200000" cy="620000"/>
          </a:xfrm>
          <a:prstGeom prst="roundRect">
            <a:avLst>
              <a:gd name="adj" fmla="val 6000"/>
            </a:avLst>
          </a:prstGeom>
          <a:solidFill>
            <a:srgbClr val="1F497D"/>
          </a:solidFill>
          <a:ln>
            <a:noFill/>
          </a:ln>
        </p:spPr>
        <p:txBody>
          <a:bodyPr wrap="square" lIns="90000" tIns="90000" rIns="90000" bIns="9000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dirty="0">
                <a:solidFill>
                  <a:srgbClr val="FFFFFF"/>
                </a:solidFill>
                <a:latin typeface="Arial"/>
                <a:cs typeface="Arial"/>
              </a:rPr>
              <a:t>Target Audience</a:t>
            </a:r>
          </a:p>
        </p:txBody>
      </p:sp>
      <p:sp>
        <p:nvSpPr>
          <p:cNvPr id="555" name="Text 555"/>
          <p:cNvSpPr txBox="1"/>
          <p:nvPr/>
        </p:nvSpPr>
        <p:spPr>
          <a:xfrm>
            <a:off x="970000" y="3220000"/>
            <a:ext cx="4860000" cy="44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342900" indent="-342900" algn="l">
              <a:spcBef>
                <a:spcPts val="0"/>
              </a:spcBef>
              <a:spcAft>
                <a:spcPts val="700"/>
              </a:spcAft>
              <a:buFont typeface="Arial"/>
              <a:buChar char="•"/>
            </a:pPr>
            <a:r>
              <a:rPr lang="en-US" sz="2400" b="0" dirty="0">
                <a:solidFill>
                  <a:srgbClr val="000000"/>
                </a:solidFill>
                <a:latin typeface="Arial"/>
                <a:cs typeface="Arial"/>
              </a:rPr>
              <a:t>Engineering and STEM students</a:t>
            </a:r>
          </a:p>
          <a:p>
            <a:pPr marL="342900" indent="-342900" algn="l">
              <a:spcBef>
                <a:spcPts val="0"/>
              </a:spcBef>
              <a:spcAft>
                <a:spcPts val="700"/>
              </a:spcAft>
              <a:buFont typeface="Arial"/>
              <a:buChar char="•"/>
            </a:pPr>
            <a:r>
              <a:rPr lang="en-US" sz="2400" b="0" dirty="0">
                <a:solidFill>
                  <a:srgbClr val="000000"/>
                </a:solidFill>
                <a:latin typeface="Arial"/>
                <a:cs typeface="Arial"/>
              </a:rPr>
              <a:t>Tier-2 and Tier-3 colleges</a:t>
            </a:r>
          </a:p>
          <a:p>
            <a:pPr marL="342900" indent="-342900" algn="l">
              <a:spcBef>
                <a:spcPts val="0"/>
              </a:spcBef>
              <a:spcAft>
                <a:spcPts val="700"/>
              </a:spcAft>
              <a:buFont typeface="Arial"/>
              <a:buChar char="•"/>
            </a:pPr>
            <a:r>
              <a:rPr lang="en-US" sz="2400" b="0" dirty="0">
                <a:solidFill>
                  <a:srgbClr val="000000"/>
                </a:solidFill>
                <a:latin typeface="Arial"/>
                <a:cs typeface="Arial"/>
              </a:rPr>
              <a:t>Training and placement cells</a:t>
            </a:r>
          </a:p>
          <a:p>
            <a:pPr marL="342900" indent="-342900" algn="l">
              <a:spcBef>
                <a:spcPts val="0"/>
              </a:spcBef>
              <a:spcAft>
                <a:spcPts val="700"/>
              </a:spcAft>
              <a:buFont typeface="Arial"/>
              <a:buChar char="•"/>
            </a:pPr>
            <a:r>
              <a:rPr lang="en-US" sz="2400" b="0" dirty="0">
                <a:solidFill>
                  <a:srgbClr val="000000"/>
                </a:solidFill>
                <a:latin typeface="Arial"/>
                <a:cs typeface="Arial"/>
              </a:rPr>
              <a:t>Recruiters who want proof of skills</a:t>
            </a:r>
          </a:p>
        </p:txBody>
      </p:sp>
      <p:sp>
        <p:nvSpPr>
          <p:cNvPr id="556" name="Card 556"/>
          <p:cNvSpPr/>
          <p:nvPr/>
        </p:nvSpPr>
        <p:spPr>
          <a:xfrm>
            <a:off x="6300000" y="2450000"/>
            <a:ext cx="5450000" cy="25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071C1"/>
            </a:solidFill>
          </a:ln>
        </p:spPr>
        <p:txBody>
          <a:bodyPr wrap="square" lIns="180000" tIns="180000" rIns="180000" bIns="180000" rtlCol="0" anchor="t">
            <a:noAutofit/>
          </a:bodyPr>
          <a:lstStyle/>
          <a:p>
            <a:endParaRPr lang="en-US"/>
          </a:p>
        </p:txBody>
      </p:sp>
      <p:sp>
        <p:nvSpPr>
          <p:cNvPr id="557" name="CardHead 557"/>
          <p:cNvSpPr/>
          <p:nvPr/>
        </p:nvSpPr>
        <p:spPr>
          <a:xfrm>
            <a:off x="6300000" y="2450000"/>
            <a:ext cx="5450000" cy="620000"/>
          </a:xfrm>
          <a:prstGeom prst="roundRect">
            <a:avLst>
              <a:gd name="adj" fmla="val 6000"/>
            </a:avLst>
          </a:prstGeom>
          <a:solidFill>
            <a:srgbClr val="0071C1"/>
          </a:solidFill>
          <a:ln>
            <a:noFill/>
          </a:ln>
        </p:spPr>
        <p:txBody>
          <a:bodyPr wrap="square" lIns="90000" tIns="90000" rIns="90000" bIns="9000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dirty="0">
                <a:solidFill>
                  <a:srgbClr val="FFFFFF"/>
                </a:solidFill>
                <a:latin typeface="Arial"/>
                <a:cs typeface="Arial"/>
              </a:rPr>
              <a:t>Social</a:t>
            </a:r>
          </a:p>
        </p:txBody>
      </p:sp>
      <p:sp>
        <p:nvSpPr>
          <p:cNvPr id="558" name="Text 558"/>
          <p:cNvSpPr txBox="1"/>
          <p:nvPr/>
        </p:nvSpPr>
        <p:spPr>
          <a:xfrm>
            <a:off x="6470000" y="3220000"/>
            <a:ext cx="5110000" cy="16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342900" indent="-342900" algn="l">
              <a:spcBef>
                <a:spcPts val="0"/>
              </a:spcBef>
              <a:spcAft>
                <a:spcPts val="700"/>
              </a:spcAft>
              <a:buFont typeface="Arial"/>
              <a:buChar char="•"/>
            </a:pPr>
            <a:r>
              <a:rPr lang="en-US" sz="2400" b="0" dirty="0">
                <a:solidFill>
                  <a:srgbClr val="000000"/>
                </a:solidFill>
                <a:latin typeface="Arial"/>
                <a:cs typeface="Arial"/>
              </a:rPr>
              <a:t>Mentoring for students who cannot afford it</a:t>
            </a:r>
          </a:p>
          <a:p>
            <a:pPr marL="342900" indent="-342900" algn="l">
              <a:spcBef>
                <a:spcPts val="0"/>
              </a:spcBef>
              <a:spcAft>
                <a:spcPts val="700"/>
              </a:spcAft>
              <a:buFont typeface="Arial"/>
              <a:buChar char="•"/>
            </a:pPr>
            <a:r>
              <a:rPr lang="en-US" sz="2400" b="0" dirty="0">
                <a:solidFill>
                  <a:srgbClr val="000000"/>
                </a:solidFill>
                <a:latin typeface="Arial"/>
                <a:cs typeface="Arial"/>
              </a:rPr>
              <a:t>More confidence before real interviews</a:t>
            </a:r>
          </a:p>
        </p:txBody>
      </p:sp>
      <p:sp>
        <p:nvSpPr>
          <p:cNvPr id="559" name="Card 559"/>
          <p:cNvSpPr/>
          <p:nvPr/>
        </p:nvSpPr>
        <p:spPr>
          <a:xfrm>
            <a:off x="12050000" y="2450000"/>
            <a:ext cx="5450000" cy="25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071C1"/>
            </a:solidFill>
          </a:ln>
        </p:spPr>
        <p:txBody>
          <a:bodyPr wrap="square" lIns="180000" tIns="180000" rIns="180000" bIns="180000" rtlCol="0" anchor="t">
            <a:noAutofit/>
          </a:bodyPr>
          <a:lstStyle/>
          <a:p>
            <a:endParaRPr lang="en-US"/>
          </a:p>
        </p:txBody>
      </p:sp>
      <p:sp>
        <p:nvSpPr>
          <p:cNvPr id="560" name="CardHead 560"/>
          <p:cNvSpPr/>
          <p:nvPr/>
        </p:nvSpPr>
        <p:spPr>
          <a:xfrm>
            <a:off x="12050000" y="2450000"/>
            <a:ext cx="5450000" cy="620000"/>
          </a:xfrm>
          <a:prstGeom prst="roundRect">
            <a:avLst>
              <a:gd name="adj" fmla="val 6000"/>
            </a:avLst>
          </a:prstGeom>
          <a:solidFill>
            <a:srgbClr val="0071C1"/>
          </a:solidFill>
          <a:ln>
            <a:noFill/>
          </a:ln>
        </p:spPr>
        <p:txBody>
          <a:bodyPr wrap="square" lIns="90000" tIns="90000" rIns="90000" bIns="9000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dirty="0">
                <a:solidFill>
                  <a:srgbClr val="FFFFFF"/>
                </a:solidFill>
                <a:latin typeface="Arial"/>
                <a:cs typeface="Arial"/>
              </a:rPr>
              <a:t>Economic</a:t>
            </a:r>
          </a:p>
        </p:txBody>
      </p:sp>
      <p:sp>
        <p:nvSpPr>
          <p:cNvPr id="561" name="Text 561"/>
          <p:cNvSpPr txBox="1"/>
          <p:nvPr/>
        </p:nvSpPr>
        <p:spPr>
          <a:xfrm>
            <a:off x="12220000" y="3220000"/>
            <a:ext cx="5110000" cy="16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342900" indent="-342900" algn="l">
              <a:spcBef>
                <a:spcPts val="0"/>
              </a:spcBef>
              <a:spcAft>
                <a:spcPts val="700"/>
              </a:spcAft>
              <a:buFont typeface="Arial"/>
              <a:buChar char="•"/>
            </a:pPr>
            <a:r>
              <a:rPr lang="en-US" sz="2400" b="0" dirty="0">
                <a:solidFill>
                  <a:srgbClr val="000000"/>
                </a:solidFill>
                <a:latin typeface="Arial"/>
                <a:cs typeface="Arial"/>
              </a:rPr>
              <a:t>About ₹5 per session vs ₹3,000+ per hour</a:t>
            </a:r>
          </a:p>
          <a:p>
            <a:pPr marL="342900" indent="-342900" algn="l">
              <a:spcBef>
                <a:spcPts val="0"/>
              </a:spcBef>
              <a:spcAft>
                <a:spcPts val="700"/>
              </a:spcAft>
              <a:buFont typeface="Arial"/>
              <a:buChar char="•"/>
            </a:pPr>
            <a:r>
              <a:rPr lang="en-US" sz="2400" b="0" dirty="0">
                <a:solidFill>
                  <a:srgbClr val="000000"/>
                </a:solidFill>
                <a:latin typeface="Arial"/>
                <a:cs typeface="Arial"/>
              </a:rPr>
              <a:t>Faster, better-matched hiring</a:t>
            </a:r>
          </a:p>
        </p:txBody>
      </p:sp>
      <p:sp>
        <p:nvSpPr>
          <p:cNvPr id="562" name="Card 562"/>
          <p:cNvSpPr/>
          <p:nvPr/>
        </p:nvSpPr>
        <p:spPr>
          <a:xfrm>
            <a:off x="6300000" y="5250000"/>
            <a:ext cx="5450000" cy="25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071C1"/>
            </a:solidFill>
          </a:ln>
        </p:spPr>
        <p:txBody>
          <a:bodyPr wrap="square" lIns="180000" tIns="180000" rIns="180000" bIns="180000" rtlCol="0" anchor="t">
            <a:noAutofit/>
          </a:bodyPr>
          <a:lstStyle/>
          <a:p>
            <a:endParaRPr lang="en-US"/>
          </a:p>
        </p:txBody>
      </p:sp>
      <p:sp>
        <p:nvSpPr>
          <p:cNvPr id="563" name="CardHead 563"/>
          <p:cNvSpPr/>
          <p:nvPr/>
        </p:nvSpPr>
        <p:spPr>
          <a:xfrm>
            <a:off x="6300000" y="5250000"/>
            <a:ext cx="5450000" cy="620000"/>
          </a:xfrm>
          <a:prstGeom prst="roundRect">
            <a:avLst>
              <a:gd name="adj" fmla="val 6000"/>
            </a:avLst>
          </a:prstGeom>
          <a:solidFill>
            <a:srgbClr val="0071C1"/>
          </a:solidFill>
          <a:ln>
            <a:noFill/>
          </a:ln>
        </p:spPr>
        <p:txBody>
          <a:bodyPr wrap="square" lIns="90000" tIns="90000" rIns="90000" bIns="9000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dirty="0">
                <a:solidFill>
                  <a:srgbClr val="FFFFFF"/>
                </a:solidFill>
                <a:latin typeface="Arial"/>
                <a:cs typeface="Arial"/>
              </a:rPr>
              <a:t>Institutional</a:t>
            </a:r>
          </a:p>
        </p:txBody>
      </p:sp>
      <p:sp>
        <p:nvSpPr>
          <p:cNvPr id="564" name="Text 564"/>
          <p:cNvSpPr txBox="1"/>
          <p:nvPr/>
        </p:nvSpPr>
        <p:spPr>
          <a:xfrm>
            <a:off x="6470000" y="6020000"/>
            <a:ext cx="5110000" cy="16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342900" indent="-342900" algn="l">
              <a:spcBef>
                <a:spcPts val="0"/>
              </a:spcBef>
              <a:spcAft>
                <a:spcPts val="700"/>
              </a:spcAft>
              <a:buFont typeface="Arial"/>
              <a:buChar char="•"/>
            </a:pPr>
            <a:r>
              <a:rPr lang="en-US" sz="2400" b="0" dirty="0">
                <a:solidFill>
                  <a:srgbClr val="000000"/>
                </a:solidFill>
                <a:latin typeface="Arial"/>
                <a:cs typeface="Arial"/>
              </a:rPr>
              <a:t>Standard placement training without outside agencies</a:t>
            </a:r>
          </a:p>
          <a:p>
            <a:pPr marL="342900" indent="-342900" algn="l">
              <a:spcBef>
                <a:spcPts val="0"/>
              </a:spcBef>
              <a:spcAft>
                <a:spcPts val="700"/>
              </a:spcAft>
              <a:buFont typeface="Arial"/>
              <a:buChar char="•"/>
            </a:pPr>
            <a:r>
              <a:rPr lang="en-US" sz="2400" b="0" dirty="0">
                <a:solidFill>
                  <a:srgbClr val="000000"/>
                </a:solidFill>
                <a:latin typeface="Arial"/>
                <a:cs typeface="Arial"/>
              </a:rPr>
              <a:t>Progress data for colleges</a:t>
            </a:r>
          </a:p>
        </p:txBody>
      </p:sp>
      <p:sp>
        <p:nvSpPr>
          <p:cNvPr id="565" name="Card 565"/>
          <p:cNvSpPr/>
          <p:nvPr/>
        </p:nvSpPr>
        <p:spPr>
          <a:xfrm>
            <a:off x="12050000" y="5250000"/>
            <a:ext cx="5450000" cy="25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071C1"/>
            </a:solidFill>
          </a:ln>
        </p:spPr>
        <p:txBody>
          <a:bodyPr wrap="square" lIns="180000" tIns="180000" rIns="180000" bIns="180000" rtlCol="0" anchor="t">
            <a:noAutofit/>
          </a:bodyPr>
          <a:lstStyle/>
          <a:p>
            <a:endParaRPr lang="en-US"/>
          </a:p>
        </p:txBody>
      </p:sp>
      <p:sp>
        <p:nvSpPr>
          <p:cNvPr id="566" name="CardHead 566"/>
          <p:cNvSpPr/>
          <p:nvPr/>
        </p:nvSpPr>
        <p:spPr>
          <a:xfrm>
            <a:off x="12050000" y="5250000"/>
            <a:ext cx="5450000" cy="620000"/>
          </a:xfrm>
          <a:prstGeom prst="roundRect">
            <a:avLst>
              <a:gd name="adj" fmla="val 6000"/>
            </a:avLst>
          </a:prstGeom>
          <a:solidFill>
            <a:srgbClr val="0071C1"/>
          </a:solidFill>
          <a:ln>
            <a:noFill/>
          </a:ln>
        </p:spPr>
        <p:txBody>
          <a:bodyPr wrap="square" lIns="90000" tIns="90000" rIns="90000" bIns="9000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dirty="0">
                <a:solidFill>
                  <a:srgbClr val="FFFFFF"/>
                </a:solidFill>
                <a:latin typeface="Arial"/>
                <a:cs typeface="Arial"/>
              </a:rPr>
              <a:t>Environmental</a:t>
            </a:r>
          </a:p>
        </p:txBody>
      </p:sp>
      <p:sp>
        <p:nvSpPr>
          <p:cNvPr id="567" name="Text 567"/>
          <p:cNvSpPr txBox="1"/>
          <p:nvPr/>
        </p:nvSpPr>
        <p:spPr>
          <a:xfrm>
            <a:off x="12220000" y="6020000"/>
            <a:ext cx="5110000" cy="16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342900" indent="-342900" algn="l">
              <a:spcBef>
                <a:spcPts val="0"/>
              </a:spcBef>
              <a:spcAft>
                <a:spcPts val="700"/>
              </a:spcAft>
              <a:buFont typeface="Arial"/>
              <a:buChar char="•"/>
            </a:pPr>
            <a:r>
              <a:rPr lang="en-US" sz="2400" b="0" dirty="0">
                <a:solidFill>
                  <a:srgbClr val="000000"/>
                </a:solidFill>
                <a:latin typeface="Arial"/>
                <a:cs typeface="Arial"/>
              </a:rPr>
              <a:t>Fully online coaching, no travel</a:t>
            </a:r>
          </a:p>
          <a:p>
            <a:pPr marL="342900" indent="-342900" algn="l">
              <a:spcBef>
                <a:spcPts val="0"/>
              </a:spcBef>
              <a:spcAft>
                <a:spcPts val="700"/>
              </a:spcAft>
              <a:buFont typeface="Arial"/>
              <a:buChar char="•"/>
            </a:pPr>
            <a:r>
              <a:rPr lang="en-US" sz="2400" b="0" dirty="0">
                <a:solidFill>
                  <a:srgbClr val="000000"/>
                </a:solidFill>
                <a:latin typeface="Arial"/>
                <a:cs typeface="Arial"/>
              </a:rPr>
              <a:t>Paperless verified credentials</a:t>
            </a:r>
          </a:p>
        </p:txBody>
      </p:sp>
      <p:sp>
        <p:nvSpPr>
          <p:cNvPr id="568" name="Banner 568"/>
          <p:cNvSpPr/>
          <p:nvPr/>
        </p:nvSpPr>
        <p:spPr>
          <a:xfrm>
            <a:off x="800000" y="7950000"/>
            <a:ext cx="16700000" cy="1200000"/>
          </a:xfrm>
          <a:prstGeom prst="roundRect">
            <a:avLst>
              <a:gd name="adj" fmla="val 6000"/>
            </a:avLst>
          </a:prstGeom>
          <a:solidFill>
            <a:srgbClr val="1F497D"/>
          </a:solidFill>
          <a:ln>
            <a:noFill/>
          </a:ln>
        </p:spPr>
        <p:txBody>
          <a:bodyPr wrap="square" lIns="100000" tIns="100000" rIns="100000" bIns="10000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 dirty="0">
                <a:solidFill>
                  <a:srgbClr val="FFFFFF"/>
                </a:solidFill>
                <a:latin typeface="Arial"/>
                <a:cs typeface="Arial"/>
              </a:rPr>
              <a:t>Estimated ₹5 per session vs ₹3,000+ per hour for a human mock interview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D6E4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6"/>
          <p:cNvGrpSpPr/>
          <p:nvPr/>
        </p:nvGrpSpPr>
        <p:grpSpPr>
          <a:xfrm>
            <a:off x="0" y="9356117"/>
            <a:ext cx="18297479" cy="930883"/>
            <a:chOff x="0" y="0"/>
            <a:chExt cx="24396638" cy="1241177"/>
          </a:xfrm>
        </p:grpSpPr>
        <p:grpSp>
          <p:nvGrpSpPr>
            <p:cNvPr id="7" name="Group 7"/>
            <p:cNvGrpSpPr/>
            <p:nvPr/>
          </p:nvGrpSpPr>
          <p:grpSpPr>
            <a:xfrm>
              <a:off x="0" y="0"/>
              <a:ext cx="24396638" cy="1241177"/>
              <a:chOff x="0" y="0"/>
              <a:chExt cx="3764913" cy="191540"/>
            </a:xfrm>
          </p:grpSpPr>
          <p:sp>
            <p:nvSpPr>
              <p:cNvPr id="8" name="Freeform 8"/>
              <p:cNvSpPr/>
              <p:nvPr/>
            </p:nvSpPr>
            <p:spPr>
              <a:xfrm>
                <a:off x="0" y="0"/>
                <a:ext cx="3764913" cy="191540"/>
              </a:xfrm>
              <a:custGeom>
                <a:avLst/>
                <a:gdLst/>
                <a:ahLst/>
                <a:cxnLst/>
                <a:rect l="l" t="t" r="r" b="b"/>
                <a:pathLst>
                  <a:path w="3764913" h="191540">
                    <a:moveTo>
                      <a:pt x="0" y="0"/>
                    </a:moveTo>
                    <a:lnTo>
                      <a:pt x="3764913" y="0"/>
                    </a:lnTo>
                    <a:lnTo>
                      <a:pt x="3764913" y="191540"/>
                    </a:lnTo>
                    <a:lnTo>
                      <a:pt x="0" y="191540"/>
                    </a:lnTo>
                    <a:close/>
                  </a:path>
                </a:pathLst>
              </a:custGeom>
              <a:solidFill>
                <a:srgbClr val="0071C1"/>
              </a:solidFill>
            </p:spPr>
            <p:txBody>
              <a:bodyPr/>
              <a:p/>
            </p:txBody>
          </p:sp>
          <p:sp>
            <p:nvSpPr>
              <p:cNvPr id="9" name="TextBox 9"/>
              <p:cNvSpPr txBox="1"/>
              <p:nvPr/>
            </p:nvSpPr>
            <p:spPr>
              <a:xfrm>
                <a:off x="0" y="-19050"/>
                <a:ext cx="3764913" cy="21059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124"/>
                  </a:lnSpc>
                </a:pPr>
                <a:endParaRPr/>
              </a:p>
              <a:p>
                <a:pPr algn="ctr">
                  <a:lnSpc>
                    <a:spcPts val="3124"/>
                  </a:lnSpc>
                </a:pPr>
                <a:endParaRPr/>
              </a:p>
            </p:txBody>
          </p:sp>
        </p:grpSp>
        <p:sp>
          <p:nvSpPr>
            <p:cNvPr id="10" name="TextBox 10"/>
            <p:cNvSpPr txBox="1"/>
            <p:nvPr/>
          </p:nvSpPr>
          <p:spPr>
            <a:xfrm>
              <a:off x="23493488" y="341188"/>
              <a:ext cx="248285" cy="53975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24"/>
                </a:lnSpc>
                <a:spcBef>
                  <a:spcPct val="0"/>
                </a:spcBef>
              </a:pPr>
              <a:r>
                <a:rPr lang="en-US" sz="2603">
                  <a:solidFill>
                    <a:srgbClr val="FFFFFF"/>
                  </a:solidFill>
                  <a:latin typeface="Georgia Pro"/>
                  <a:ea typeface="Georgia Pro"/>
                  <a:cs typeface="Georgia Pro"/>
                  <a:sym typeface="Georgia Pro"/>
                </a:rPr>
                <a:t>6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0722311" y="374128"/>
              <a:ext cx="2531269" cy="53975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24"/>
                </a:lnSpc>
                <a:spcBef>
                  <a:spcPct val="0"/>
                </a:spcBef>
              </a:pPr>
              <a:r>
                <a:rPr lang="en-US" sz="2603">
                  <a:solidFill>
                    <a:srgbClr val="FFFFFF"/>
                  </a:solidFill>
                  <a:latin typeface="Georgia Pro"/>
                  <a:ea typeface="Georgia Pro"/>
                  <a:cs typeface="Georgia Pro"/>
                  <a:sym typeface="Georgia Pro"/>
                </a:rPr>
                <a:t>AI – मंथन 2.0</a:t>
              </a:r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3437242" y="-20442"/>
            <a:ext cx="11413517" cy="900684"/>
            <a:chOff x="0" y="0"/>
            <a:chExt cx="15218022" cy="1200912"/>
          </a:xfrm>
        </p:grpSpPr>
        <p:grpSp>
          <p:nvGrpSpPr>
            <p:cNvPr id="13" name="Group 13"/>
            <p:cNvGrpSpPr/>
            <p:nvPr/>
          </p:nvGrpSpPr>
          <p:grpSpPr>
            <a:xfrm>
              <a:off x="0" y="27257"/>
              <a:ext cx="15218022" cy="1173656"/>
              <a:chOff x="0" y="0"/>
              <a:chExt cx="2703073" cy="208468"/>
            </a:xfrm>
          </p:grpSpPr>
          <p:sp>
            <p:nvSpPr>
              <p:cNvPr id="14" name="Freeform 14"/>
              <p:cNvSpPr/>
              <p:nvPr/>
            </p:nvSpPr>
            <p:spPr>
              <a:xfrm>
                <a:off x="0" y="0"/>
                <a:ext cx="2703073" cy="208468"/>
              </a:xfrm>
              <a:custGeom>
                <a:avLst/>
                <a:gdLst/>
                <a:ahLst/>
                <a:cxnLst/>
                <a:rect l="l" t="t" r="r" b="b"/>
                <a:pathLst>
                  <a:path w="2703073" h="208468">
                    <a:moveTo>
                      <a:pt x="29846" y="0"/>
                    </a:moveTo>
                    <a:lnTo>
                      <a:pt x="2673227" y="0"/>
                    </a:lnTo>
                    <a:cubicBezTo>
                      <a:pt x="2681143" y="0"/>
                      <a:pt x="2688734" y="3144"/>
                      <a:pt x="2694331" y="8742"/>
                    </a:cubicBezTo>
                    <a:cubicBezTo>
                      <a:pt x="2699929" y="14339"/>
                      <a:pt x="2703073" y="21930"/>
                      <a:pt x="2703073" y="29846"/>
                    </a:cubicBezTo>
                    <a:lnTo>
                      <a:pt x="2703073" y="178623"/>
                    </a:lnTo>
                    <a:cubicBezTo>
                      <a:pt x="2703073" y="195106"/>
                      <a:pt x="2689711" y="208468"/>
                      <a:pt x="2673227" y="208468"/>
                    </a:cubicBezTo>
                    <a:lnTo>
                      <a:pt x="29846" y="208468"/>
                    </a:lnTo>
                    <a:cubicBezTo>
                      <a:pt x="13362" y="208468"/>
                      <a:pt x="0" y="195106"/>
                      <a:pt x="0" y="178623"/>
                    </a:cubicBezTo>
                    <a:lnTo>
                      <a:pt x="0" y="29846"/>
                    </a:lnTo>
                    <a:cubicBezTo>
                      <a:pt x="0" y="13362"/>
                      <a:pt x="13362" y="0"/>
                      <a:pt x="29846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9050" cap="rnd">
                <a:gradFill>
                  <a:gsLst>
                    <a:gs pos="0">
                      <a:srgbClr val="5DE0E6">
                        <a:alpha val="100000"/>
                      </a:srgbClr>
                    </a:gs>
                    <a:gs pos="100000">
                      <a:srgbClr val="004AAD">
                        <a:alpha val="100000"/>
                      </a:srgbClr>
                    </a:gs>
                  </a:gsLst>
                  <a:lin ang="0"/>
                </a:gradFill>
                <a:prstDash val="solid"/>
                <a:round/>
              </a:ln>
            </p:spPr>
            <p:txBody>
              <a:bodyPr/>
              <a:p/>
            </p:txBody>
          </p:sp>
          <p:sp>
            <p:nvSpPr>
              <p:cNvPr id="15" name="TextBox 15"/>
              <p:cNvSpPr txBox="1"/>
              <p:nvPr/>
            </p:nvSpPr>
            <p:spPr>
              <a:xfrm>
                <a:off x="0" y="-19050"/>
                <a:ext cx="2703073" cy="227518"/>
              </a:xfrm>
              <a:prstGeom prst="rect">
                <a:avLst/>
              </a:prstGeom>
            </p:spPr>
            <p:txBody>
              <a:bodyPr lIns="158888" tIns="158888" rIns="158888" bIns="158888" rtlCol="0" anchor="ctr"/>
              <a:lstStyle/>
              <a:p>
                <a:pPr algn="just">
                  <a:lnSpc>
                    <a:spcPts val="982"/>
                  </a:lnSpc>
                </a:pPr>
                <a:endParaRPr/>
              </a:p>
            </p:txBody>
          </p:sp>
        </p:grpSp>
        <p:sp>
          <p:nvSpPr>
            <p:cNvPr id="16" name="Freeform 16"/>
            <p:cNvSpPr/>
            <p:nvPr/>
          </p:nvSpPr>
          <p:spPr>
            <a:xfrm>
              <a:off x="1273589" y="0"/>
              <a:ext cx="3225180" cy="1179721"/>
            </a:xfrm>
            <a:custGeom>
              <a:avLst/>
              <a:gdLst/>
              <a:ahLst/>
              <a:cxnLst/>
              <a:rect l="l" t="t" r="r" b="b"/>
              <a:pathLst>
                <a:path w="3225180" h="1179721">
                  <a:moveTo>
                    <a:pt x="0" y="0"/>
                  </a:moveTo>
                  <a:lnTo>
                    <a:pt x="3225180" y="0"/>
                  </a:lnTo>
                  <a:lnTo>
                    <a:pt x="3225180" y="1179721"/>
                  </a:lnTo>
                  <a:lnTo>
                    <a:pt x="0" y="117972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t="-1001" b="-1001"/>
              </a:stretch>
            </a:blipFill>
          </p:spPr>
          <p:txBody>
            <a:bodyPr/>
            <a:p/>
          </p:txBody>
        </p:sp>
        <p:sp>
          <p:nvSpPr>
            <p:cNvPr id="17" name="Freeform 17"/>
            <p:cNvSpPr/>
            <p:nvPr/>
          </p:nvSpPr>
          <p:spPr>
            <a:xfrm>
              <a:off x="5117010" y="194821"/>
              <a:ext cx="4314511" cy="838527"/>
            </a:xfrm>
            <a:custGeom>
              <a:avLst/>
              <a:gdLst/>
              <a:ahLst/>
              <a:cxnLst/>
              <a:rect l="l" t="t" r="r" b="b"/>
              <a:pathLst>
                <a:path w="4314511" h="838527">
                  <a:moveTo>
                    <a:pt x="0" y="0"/>
                  </a:moveTo>
                  <a:lnTo>
                    <a:pt x="4314511" y="0"/>
                  </a:lnTo>
                  <a:lnTo>
                    <a:pt x="4314511" y="838527"/>
                  </a:lnTo>
                  <a:lnTo>
                    <a:pt x="0" y="83852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t="-2002"/>
              </a:stretch>
            </a:blipFill>
            <a:ln cap="sq">
              <a:noFill/>
              <a:prstDash val="solid"/>
              <a:miter/>
            </a:ln>
          </p:spPr>
          <p:txBody>
            <a:bodyPr/>
            <a:p/>
          </p:txBody>
        </p:sp>
        <p:sp>
          <p:nvSpPr>
            <p:cNvPr id="18" name="Freeform 18"/>
            <p:cNvSpPr/>
            <p:nvPr/>
          </p:nvSpPr>
          <p:spPr>
            <a:xfrm>
              <a:off x="11047629" y="168317"/>
              <a:ext cx="2505724" cy="891536"/>
            </a:xfrm>
            <a:custGeom>
              <a:avLst/>
              <a:gdLst/>
              <a:ahLst/>
              <a:cxnLst/>
              <a:rect l="l" t="t" r="r" b="b"/>
              <a:pathLst>
                <a:path w="2505724" h="891536">
                  <a:moveTo>
                    <a:pt x="0" y="0"/>
                  </a:moveTo>
                  <a:lnTo>
                    <a:pt x="2505724" y="0"/>
                  </a:lnTo>
                  <a:lnTo>
                    <a:pt x="2505724" y="891535"/>
                  </a:lnTo>
                  <a:lnTo>
                    <a:pt x="0" y="89153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t="-1001" b="-1001"/>
              </a:stretch>
            </a:blipFill>
          </p:spPr>
          <p:txBody>
            <a:bodyPr/>
            <a:p/>
          </p:txBody>
        </p:sp>
      </p:grpSp>
      <p:grpSp>
        <p:nvGrpSpPr>
          <p:cNvPr id="19" name="Group 19"/>
          <p:cNvGrpSpPr/>
          <p:nvPr/>
        </p:nvGrpSpPr>
        <p:grpSpPr>
          <a:xfrm>
            <a:off x="384991" y="139597"/>
            <a:ext cx="1915887" cy="1249099"/>
            <a:chOff x="0" y="0"/>
            <a:chExt cx="2554516" cy="1665465"/>
          </a:xfrm>
        </p:grpSpPr>
        <p:sp>
          <p:nvSpPr>
            <p:cNvPr id="20" name="Freeform 20" descr="Your startup LOGO"/>
            <p:cNvSpPr/>
            <p:nvPr/>
          </p:nvSpPr>
          <p:spPr>
            <a:xfrm>
              <a:off x="0" y="0"/>
              <a:ext cx="2554478" cy="1665478"/>
            </a:xfrm>
            <a:custGeom>
              <a:avLst/>
              <a:gdLst/>
              <a:ahLst/>
              <a:cxnLst/>
              <a:rect l="l" t="t" r="r" b="b"/>
              <a:pathLst>
                <a:path w="2554478" h="1665478">
                  <a:moveTo>
                    <a:pt x="0" y="832739"/>
                  </a:moveTo>
                  <a:cubicBezTo>
                    <a:pt x="0" y="372872"/>
                    <a:pt x="571881" y="0"/>
                    <a:pt x="1277239" y="0"/>
                  </a:cubicBezTo>
                  <a:cubicBezTo>
                    <a:pt x="1982597" y="0"/>
                    <a:pt x="2554478" y="372872"/>
                    <a:pt x="2554478" y="832739"/>
                  </a:cubicBezTo>
                  <a:cubicBezTo>
                    <a:pt x="2554478" y="1292606"/>
                    <a:pt x="1982597" y="1665478"/>
                    <a:pt x="1277239" y="1665478"/>
                  </a:cubicBezTo>
                  <a:cubicBezTo>
                    <a:pt x="571881" y="1665478"/>
                    <a:pt x="0" y="1292606"/>
                    <a:pt x="0" y="832739"/>
                  </a:cubicBezTo>
                  <a:close/>
                </a:path>
              </a:pathLst>
            </a:custGeom>
            <a:solidFill>
              <a:srgbClr val="FFFFFF"/>
            </a:solidFill>
            <a:ln w="38100" cap="sq">
              <a:solidFill>
                <a:srgbClr val="8064A2"/>
              </a:solidFill>
              <a:prstDash val="solid"/>
              <a:miter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0" y="-57150"/>
              <a:ext cx="2554516" cy="172261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240"/>
                </a:lnSpc>
              </a:pPr>
              <a:r>
                <a:rPr lang="en-US" sz="2700">
                  <a:solidFill>
                    <a:srgbClr val="00000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BotS</a:t>
              </a:r>
            </a:p>
          </p:txBody>
        </p:sp>
      </p:grpSp>
      <p:sp>
        <p:nvSpPr>
          <p:cNvPr id="22" name="Freeform 22"/>
          <p:cNvSpPr/>
          <p:nvPr/>
        </p:nvSpPr>
        <p:spPr>
          <a:xfrm>
            <a:off x="15582684" y="0"/>
            <a:ext cx="2705316" cy="1715305"/>
          </a:xfrm>
          <a:custGeom>
            <a:avLst/>
            <a:gdLst/>
            <a:ahLst/>
            <a:cxnLst/>
            <a:rect l="l" t="t" r="r" b="b"/>
            <a:pathLst>
              <a:path w="2705316" h="1715305">
                <a:moveTo>
                  <a:pt x="0" y="0"/>
                </a:moveTo>
                <a:lnTo>
                  <a:pt x="2705316" y="0"/>
                </a:lnTo>
                <a:lnTo>
                  <a:pt x="2705316" y="1715305"/>
                </a:lnTo>
                <a:lnTo>
                  <a:pt x="0" y="1715305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r="-4909"/>
            </a:stretch>
          </a:blipFill>
        </p:spPr>
        <p:txBody>
          <a:bodyPr/>
          <a:p/>
        </p:txBody>
      </p:sp>
      <p:sp>
        <p:nvSpPr>
          <p:cNvPr id="569" name="Text 569"/>
          <p:cNvSpPr txBox="1"/>
          <p:nvPr/>
        </p:nvSpPr>
        <p:spPr>
          <a:xfrm>
            <a:off x="900000" y="1250000"/>
            <a:ext cx="16500000" cy="9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200" b="1" dirty="0">
                <a:solidFill>
                  <a:srgbClr val="000000"/>
                </a:solidFill>
                <a:latin typeface="Times New Roman"/>
                <a:cs typeface="Times New Roman"/>
              </a:rPr>
              <a:t>RESEARCH AND REFERENCES</a:t>
            </a:r>
          </a:p>
        </p:txBody>
      </p:sp>
      <p:sp>
        <p:nvSpPr>
          <p:cNvPr id="570" name="C 570"/>
          <p:cNvSpPr/>
          <p:nvPr/>
        </p:nvSpPr>
        <p:spPr>
          <a:xfrm>
            <a:off x="800000" y="2450000"/>
            <a:ext cx="8200000" cy="62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071C1"/>
            </a:solidFill>
          </a:ln>
        </p:spPr>
        <p:txBody>
          <a:bodyPr wrap="square" lIns="180000" tIns="180000" rIns="180000" bIns="180000" rtlCol="0" anchor="t">
            <a:noAutofit/>
          </a:bodyPr>
          <a:lstStyle/>
          <a:p>
            <a:endParaRPr lang="en-US"/>
          </a:p>
        </p:txBody>
      </p:sp>
      <p:sp>
        <p:nvSpPr>
          <p:cNvPr id="571" name="H 571"/>
          <p:cNvSpPr/>
          <p:nvPr/>
        </p:nvSpPr>
        <p:spPr>
          <a:xfrm>
            <a:off x="800000" y="2450000"/>
            <a:ext cx="8200000" cy="620000"/>
          </a:xfrm>
          <a:prstGeom prst="roundRect">
            <a:avLst>
              <a:gd name="adj" fmla="val 6000"/>
            </a:avLst>
          </a:prstGeom>
          <a:solidFill>
            <a:srgbClr val="1F497D"/>
          </a:solidFill>
          <a:ln>
            <a:noFill/>
          </a:ln>
        </p:spPr>
        <p:txBody>
          <a:bodyPr wrap="square" lIns="60000" tIns="60000" rIns="60000" bIns="6000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dirty="0">
                <a:solidFill>
                  <a:srgbClr val="FFFFFF"/>
                </a:solidFill>
                <a:latin typeface="Arial"/>
                <a:cs typeface="Arial"/>
              </a:rPr>
              <a:t>Concepts and Research</a:t>
            </a:r>
          </a:p>
        </p:txBody>
      </p:sp>
      <p:sp>
        <p:nvSpPr>
          <p:cNvPr id="572" name="Text 572"/>
          <p:cNvSpPr txBox="1"/>
          <p:nvPr/>
        </p:nvSpPr>
        <p:spPr>
          <a:xfrm>
            <a:off x="1000000" y="3250000"/>
            <a:ext cx="7800000" cy="57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dirty="0">
                <a:solidFill>
                  <a:srgbClr val="000000"/>
                </a:solidFill>
                <a:latin typeface="Arial"/>
                <a:cs typeface="Arial"/>
              </a:rPr>
              <a:t>Retrieval-Augmented Generation (Lewis et al., 2020)</a:t>
            </a:r>
          </a:p>
          <a:p>
            <a:pPr marL="0" indent="0" algn="l">
              <a:spcBef>
                <a:spcPts val="0"/>
              </a:spcBef>
              <a:spcAft>
                <a:spcPts val="2000"/>
              </a:spcAft>
              <a:buNone/>
            </a:pPr>
            <a:r>
              <a:rPr lang="en-US" sz="2400" b="0" dirty="0">
                <a:solidFill>
                  <a:srgbClr val="1F497D"/>
                </a:solidFill>
                <a:latin typeface="Arial"/>
                <a:cs typeface="Arial"/>
              </a:rPr>
              <a:t>arxiv.org/abs/2005.11401</a:t>
            </a:r>
          </a:p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dirty="0">
                <a:solidFill>
                  <a:srgbClr val="000000"/>
                </a:solidFill>
                <a:latin typeface="Arial"/>
                <a:cs typeface="Arial"/>
              </a:rPr>
              <a:t>Ed25519 signatures: RFC 8032</a:t>
            </a:r>
          </a:p>
          <a:p>
            <a:pPr marL="0" indent="0" algn="l">
              <a:spcBef>
                <a:spcPts val="0"/>
              </a:spcBef>
              <a:spcAft>
                <a:spcPts val="2000"/>
              </a:spcAft>
              <a:buNone/>
            </a:pPr>
            <a:r>
              <a:rPr lang="en-US" sz="2400" b="0" dirty="0">
                <a:solidFill>
                  <a:srgbClr val="1F497D"/>
                </a:solidFill>
                <a:latin typeface="Arial"/>
                <a:cs typeface="Arial"/>
              </a:rPr>
              <a:t>rfc-editor.org/rfc/rfc8032</a:t>
            </a:r>
          </a:p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dirty="0">
                <a:solidFill>
                  <a:srgbClr val="000000"/>
                </a:solidFill>
                <a:latin typeface="Arial"/>
                <a:cs typeface="Arial"/>
              </a:rPr>
              <a:t>Bloom's Taxonomy for adaptive difficulty</a:t>
            </a:r>
          </a:p>
          <a:p>
            <a:pPr marL="0" indent="0" algn="l">
              <a:spcBef>
                <a:spcPts val="0"/>
              </a:spcBef>
              <a:spcAft>
                <a:spcPts val="2000"/>
              </a:spcAft>
              <a:buNone/>
            </a:pPr>
            <a:r>
              <a:rPr lang="en-US" sz="2400" b="0" dirty="0">
                <a:solidFill>
                  <a:srgbClr val="1F497D"/>
                </a:solidFill>
                <a:latin typeface="Arial"/>
                <a:cs typeface="Arial"/>
              </a:rPr>
              <a:t>Anderson &amp; Krathwohl, 2001</a:t>
            </a:r>
          </a:p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dirty="0">
                <a:solidFill>
                  <a:srgbClr val="000000"/>
                </a:solidFill>
                <a:latin typeface="Arial"/>
                <a:cs typeface="Arial"/>
              </a:rPr>
              <a:t>GRIMOIRE prototype</a:t>
            </a:r>
          </a:p>
          <a:p>
            <a:pPr marL="0" indent="0" algn="l">
              <a:spcBef>
                <a:spcPts val="0"/>
              </a:spcBef>
              <a:spcAft>
                <a:spcPts val="2000"/>
              </a:spcAft>
              <a:buNone/>
            </a:pPr>
            <a:r>
              <a:rPr lang="en-US" sz="2400" b="0" dirty="0">
                <a:solidFill>
                  <a:srgbClr val="1F497D"/>
                </a:solidFill>
                <a:latin typeface="Arial"/>
                <a:cs typeface="Arial"/>
              </a:rPr>
              <a:t>Working build, demo on request</a:t>
            </a:r>
          </a:p>
        </p:txBody>
      </p:sp>
      <p:sp>
        <p:nvSpPr>
          <p:cNvPr id="573" name="C 573"/>
          <p:cNvSpPr/>
          <p:nvPr/>
        </p:nvSpPr>
        <p:spPr>
          <a:xfrm>
            <a:off x="9300000" y="2450000"/>
            <a:ext cx="8200000" cy="62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071C1"/>
            </a:solidFill>
          </a:ln>
        </p:spPr>
        <p:txBody>
          <a:bodyPr wrap="square" lIns="180000" tIns="180000" rIns="180000" bIns="180000" rtlCol="0" anchor="t">
            <a:noAutofit/>
          </a:bodyPr>
          <a:lstStyle/>
          <a:p>
            <a:endParaRPr lang="en-US"/>
          </a:p>
        </p:txBody>
      </p:sp>
      <p:sp>
        <p:nvSpPr>
          <p:cNvPr id="574" name="H 574"/>
          <p:cNvSpPr/>
          <p:nvPr/>
        </p:nvSpPr>
        <p:spPr>
          <a:xfrm>
            <a:off x="9300000" y="2450000"/>
            <a:ext cx="8200000" cy="620000"/>
          </a:xfrm>
          <a:prstGeom prst="roundRect">
            <a:avLst>
              <a:gd name="adj" fmla="val 6000"/>
            </a:avLst>
          </a:prstGeom>
          <a:solidFill>
            <a:srgbClr val="0071C1"/>
          </a:solidFill>
          <a:ln>
            <a:noFill/>
          </a:ln>
        </p:spPr>
        <p:txBody>
          <a:bodyPr wrap="square" lIns="60000" tIns="60000" rIns="60000" bIns="6000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dirty="0">
                <a:solidFill>
                  <a:srgbClr val="FFFFFF"/>
                </a:solidFill>
                <a:latin typeface="Arial"/>
                <a:cs typeface="Arial"/>
              </a:rPr>
              <a:t>Tools and Documentation</a:t>
            </a:r>
          </a:p>
        </p:txBody>
      </p:sp>
      <p:sp>
        <p:nvSpPr>
          <p:cNvPr id="575" name="Text 575"/>
          <p:cNvSpPr txBox="1"/>
          <p:nvPr/>
        </p:nvSpPr>
        <p:spPr>
          <a:xfrm>
            <a:off x="9500000" y="3250000"/>
            <a:ext cx="7800000" cy="57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dirty="0">
                <a:solidFill>
                  <a:srgbClr val="000000"/>
                </a:solidFill>
                <a:latin typeface="Arial"/>
                <a:cs typeface="Arial"/>
              </a:rPr>
              <a:t>Google MediaPipe</a:t>
            </a:r>
          </a:p>
          <a:p>
            <a:pPr marL="0" indent="0" algn="l">
              <a:spcBef>
                <a:spcPts val="0"/>
              </a:spcBef>
              <a:spcAft>
                <a:spcPts val="2000"/>
              </a:spcAft>
              <a:buNone/>
            </a:pPr>
            <a:r>
              <a:rPr lang="en-US" sz="2400" b="0" dirty="0">
                <a:solidFill>
                  <a:srgbClr val="1F497D"/>
                </a:solidFill>
                <a:latin typeface="Arial"/>
                <a:cs typeface="Arial"/>
              </a:rPr>
              <a:t>ai.google.dev/edge/mediapipe</a:t>
            </a:r>
          </a:p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dirty="0">
                <a:solidFill>
                  <a:srgbClr val="000000"/>
                </a:solidFill>
                <a:latin typeface="Arial"/>
                <a:cs typeface="Arial"/>
              </a:rPr>
              <a:t>ChromaDB vector database</a:t>
            </a:r>
          </a:p>
          <a:p>
            <a:pPr marL="0" indent="0" algn="l">
              <a:spcBef>
                <a:spcPts val="0"/>
              </a:spcBef>
              <a:spcAft>
                <a:spcPts val="2000"/>
              </a:spcAft>
              <a:buNone/>
            </a:pPr>
            <a:r>
              <a:rPr lang="en-US" sz="2400" b="0" dirty="0">
                <a:solidFill>
                  <a:srgbClr val="1F497D"/>
                </a:solidFill>
                <a:latin typeface="Arial"/>
                <a:cs typeface="Arial"/>
              </a:rPr>
              <a:t>docs.trychroma.com</a:t>
            </a:r>
          </a:p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dirty="0">
                <a:solidFill>
                  <a:srgbClr val="000000"/>
                </a:solidFill>
                <a:latin typeface="Arial"/>
                <a:cs typeface="Arial"/>
              </a:rPr>
              <a:t>Groq inference API</a:t>
            </a:r>
          </a:p>
          <a:p>
            <a:pPr marL="0" indent="0" algn="l">
              <a:spcBef>
                <a:spcPts val="0"/>
              </a:spcBef>
              <a:spcAft>
                <a:spcPts val="2000"/>
              </a:spcAft>
              <a:buNone/>
            </a:pPr>
            <a:r>
              <a:rPr lang="en-US" sz="2400" b="0" dirty="0">
                <a:solidFill>
                  <a:srgbClr val="1F497D"/>
                </a:solidFill>
                <a:latin typeface="Arial"/>
                <a:cs typeface="Arial"/>
              </a:rPr>
              <a:t>console.groq.com/docs</a:t>
            </a:r>
          </a:p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dirty="0">
                <a:solidFill>
                  <a:srgbClr val="000000"/>
                </a:solidFill>
                <a:latin typeface="Arial"/>
                <a:cs typeface="Arial"/>
              </a:rPr>
              <a:t>FastAPI and Next.js</a:t>
            </a:r>
          </a:p>
          <a:p>
            <a:pPr marL="0" indent="0" algn="l">
              <a:spcBef>
                <a:spcPts val="0"/>
              </a:spcBef>
              <a:spcAft>
                <a:spcPts val="2000"/>
              </a:spcAft>
              <a:buNone/>
            </a:pPr>
            <a:r>
              <a:rPr lang="en-US" sz="2400" b="0" dirty="0">
                <a:solidFill>
                  <a:srgbClr val="1F497D"/>
                </a:solidFill>
                <a:latin typeface="Arial"/>
                <a:cs typeface="Arial"/>
              </a:rPr>
              <a:t>fastapi.tiangolo.com, nextjs.org/docs</a:t>
            </a:r>
          </a:p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dirty="0">
                <a:solidFill>
                  <a:srgbClr val="000000"/>
                </a:solidFill>
                <a:latin typeface="Arial"/>
                <a:cs typeface="Arial"/>
              </a:rPr>
              <a:t>Web Speech API (MDN)</a:t>
            </a:r>
          </a:p>
          <a:p>
            <a:pPr marL="0" indent="0" algn="l">
              <a:spcBef>
                <a:spcPts val="0"/>
              </a:spcBef>
              <a:spcAft>
                <a:spcPts val="2000"/>
              </a:spcAft>
              <a:buNone/>
            </a:pPr>
            <a:r>
              <a:rPr lang="en-US" sz="2400" b="0" dirty="0">
                <a:solidFill>
                  <a:srgbClr val="1F497D"/>
                </a:solidFill>
                <a:latin typeface="Arial"/>
                <a:cs typeface="Arial"/>
              </a:rPr>
              <a:t>developer.mozilla.org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D6E4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569278" y="2550606"/>
            <a:ext cx="16459200" cy="5185788"/>
            <a:chOff x="0" y="0"/>
            <a:chExt cx="21945600" cy="6914384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1945600" cy="6914384"/>
            </a:xfrm>
            <a:custGeom>
              <a:avLst/>
              <a:gdLst/>
              <a:ahLst/>
              <a:cxnLst/>
              <a:rect l="l" t="t" r="r" b="b"/>
              <a:pathLst>
                <a:path w="21945600" h="6914384">
                  <a:moveTo>
                    <a:pt x="0" y="0"/>
                  </a:moveTo>
                  <a:lnTo>
                    <a:pt x="21945600" y="0"/>
                  </a:lnTo>
                  <a:lnTo>
                    <a:pt x="21945600" y="6914384"/>
                  </a:lnTo>
                  <a:lnTo>
                    <a:pt x="0" y="6914384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45312" b="21625"/>
              </a:stretch>
            </a:blipFill>
          </p:spPr>
          <p:txBody>
            <a:bodyPr/>
            <a:p/>
          </p:txBody>
        </p:sp>
        <p:sp>
          <p:nvSpPr>
            <p:cNvPr id="4" name="TextBox 4"/>
            <p:cNvSpPr txBox="1"/>
            <p:nvPr/>
          </p:nvSpPr>
          <p:spPr>
            <a:xfrm>
              <a:off x="0" y="-47625"/>
              <a:ext cx="21945600" cy="6962009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11879"/>
                </a:lnSpc>
              </a:pPr>
              <a:r>
                <a:rPr lang="en-US" sz="9899" b="1">
                  <a:solidFill>
                    <a:srgbClr val="000000"/>
                  </a:solidFill>
                  <a:latin typeface="Times New Roman Bold"/>
                  <a:ea typeface="Times New Roman Bold"/>
                  <a:cs typeface="Times New Roman Bold"/>
                  <a:sym typeface="Times New Roman Bold"/>
                </a:rPr>
                <a:t>Thank You</a:t>
              </a:r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0" y="9356117"/>
            <a:ext cx="18297479" cy="930883"/>
            <a:chOff x="0" y="0"/>
            <a:chExt cx="24396638" cy="1241177"/>
          </a:xfrm>
        </p:grpSpPr>
        <p:grpSp>
          <p:nvGrpSpPr>
            <p:cNvPr id="6" name="Group 6"/>
            <p:cNvGrpSpPr/>
            <p:nvPr/>
          </p:nvGrpSpPr>
          <p:grpSpPr>
            <a:xfrm>
              <a:off x="0" y="0"/>
              <a:ext cx="24396638" cy="1241177"/>
              <a:chOff x="0" y="0"/>
              <a:chExt cx="3764913" cy="191540"/>
            </a:xfrm>
          </p:grpSpPr>
          <p:sp>
            <p:nvSpPr>
              <p:cNvPr id="7" name="Freeform 7"/>
              <p:cNvSpPr/>
              <p:nvPr/>
            </p:nvSpPr>
            <p:spPr>
              <a:xfrm>
                <a:off x="0" y="0"/>
                <a:ext cx="3764913" cy="191540"/>
              </a:xfrm>
              <a:custGeom>
                <a:avLst/>
                <a:gdLst/>
                <a:ahLst/>
                <a:cxnLst/>
                <a:rect l="l" t="t" r="r" b="b"/>
                <a:pathLst>
                  <a:path w="3764913" h="191540">
                    <a:moveTo>
                      <a:pt x="0" y="0"/>
                    </a:moveTo>
                    <a:lnTo>
                      <a:pt x="3764913" y="0"/>
                    </a:lnTo>
                    <a:lnTo>
                      <a:pt x="3764913" y="191540"/>
                    </a:lnTo>
                    <a:lnTo>
                      <a:pt x="0" y="191540"/>
                    </a:lnTo>
                    <a:close/>
                  </a:path>
                </a:pathLst>
              </a:custGeom>
              <a:solidFill>
                <a:srgbClr val="0071C1"/>
              </a:solidFill>
            </p:spPr>
            <p:txBody>
              <a:bodyPr/>
              <a:p/>
            </p:txBody>
          </p:sp>
          <p:sp>
            <p:nvSpPr>
              <p:cNvPr id="8" name="TextBox 8"/>
              <p:cNvSpPr txBox="1"/>
              <p:nvPr/>
            </p:nvSpPr>
            <p:spPr>
              <a:xfrm>
                <a:off x="0" y="-19050"/>
                <a:ext cx="3764913" cy="21059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124"/>
                  </a:lnSpc>
                </a:pPr>
                <a:endParaRPr/>
              </a:p>
              <a:p>
                <a:pPr algn="ctr">
                  <a:lnSpc>
                    <a:spcPts val="3124"/>
                  </a:lnSpc>
                </a:pPr>
                <a:endParaRPr/>
              </a:p>
            </p:txBody>
          </p:sp>
        </p:grpSp>
        <p:sp>
          <p:nvSpPr>
            <p:cNvPr id="9" name="TextBox 9"/>
            <p:cNvSpPr txBox="1"/>
            <p:nvPr/>
          </p:nvSpPr>
          <p:spPr>
            <a:xfrm>
              <a:off x="23493488" y="341188"/>
              <a:ext cx="248285" cy="53975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24"/>
                </a:lnSpc>
                <a:spcBef>
                  <a:spcPct val="0"/>
                </a:spcBef>
              </a:pPr>
              <a:r>
                <a:rPr lang="en-US" sz="2603">
                  <a:solidFill>
                    <a:srgbClr val="FFFFFF"/>
                  </a:solidFill>
                  <a:latin typeface="Georgia Pro"/>
                  <a:ea typeface="Georgia Pro"/>
                  <a:cs typeface="Georgia Pro"/>
                  <a:sym typeface="Georgia Pro"/>
                </a:rPr>
                <a:t>7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0722311" y="374128"/>
              <a:ext cx="2531269" cy="53975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24"/>
                </a:lnSpc>
                <a:spcBef>
                  <a:spcPct val="0"/>
                </a:spcBef>
              </a:pPr>
              <a:r>
                <a:rPr lang="en-US" sz="2603">
                  <a:solidFill>
                    <a:srgbClr val="FFFFFF"/>
                  </a:solidFill>
                  <a:latin typeface="Georgia Pro"/>
                  <a:ea typeface="Georgia Pro"/>
                  <a:cs typeface="Georgia Pro"/>
                  <a:sym typeface="Georgia Pro"/>
                </a:rPr>
                <a:t>AI – मंथन 2.0</a:t>
              </a:r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3437242" y="-20442"/>
            <a:ext cx="11413517" cy="900684"/>
            <a:chOff x="0" y="0"/>
            <a:chExt cx="15218022" cy="1200912"/>
          </a:xfrm>
        </p:grpSpPr>
        <p:grpSp>
          <p:nvGrpSpPr>
            <p:cNvPr id="12" name="Group 12"/>
            <p:cNvGrpSpPr/>
            <p:nvPr/>
          </p:nvGrpSpPr>
          <p:grpSpPr>
            <a:xfrm>
              <a:off x="0" y="27257"/>
              <a:ext cx="15218022" cy="1173656"/>
              <a:chOff x="0" y="0"/>
              <a:chExt cx="2703073" cy="208468"/>
            </a:xfrm>
          </p:grpSpPr>
          <p:sp>
            <p:nvSpPr>
              <p:cNvPr id="13" name="Freeform 13"/>
              <p:cNvSpPr/>
              <p:nvPr/>
            </p:nvSpPr>
            <p:spPr>
              <a:xfrm>
                <a:off x="0" y="0"/>
                <a:ext cx="2703073" cy="208468"/>
              </a:xfrm>
              <a:custGeom>
                <a:avLst/>
                <a:gdLst/>
                <a:ahLst/>
                <a:cxnLst/>
                <a:rect l="l" t="t" r="r" b="b"/>
                <a:pathLst>
                  <a:path w="2703073" h="208468">
                    <a:moveTo>
                      <a:pt x="29846" y="0"/>
                    </a:moveTo>
                    <a:lnTo>
                      <a:pt x="2673227" y="0"/>
                    </a:lnTo>
                    <a:cubicBezTo>
                      <a:pt x="2681143" y="0"/>
                      <a:pt x="2688734" y="3144"/>
                      <a:pt x="2694331" y="8742"/>
                    </a:cubicBezTo>
                    <a:cubicBezTo>
                      <a:pt x="2699929" y="14339"/>
                      <a:pt x="2703073" y="21930"/>
                      <a:pt x="2703073" y="29846"/>
                    </a:cubicBezTo>
                    <a:lnTo>
                      <a:pt x="2703073" y="178623"/>
                    </a:lnTo>
                    <a:cubicBezTo>
                      <a:pt x="2703073" y="195106"/>
                      <a:pt x="2689711" y="208468"/>
                      <a:pt x="2673227" y="208468"/>
                    </a:cubicBezTo>
                    <a:lnTo>
                      <a:pt x="29846" y="208468"/>
                    </a:lnTo>
                    <a:cubicBezTo>
                      <a:pt x="13362" y="208468"/>
                      <a:pt x="0" y="195106"/>
                      <a:pt x="0" y="178623"/>
                    </a:cubicBezTo>
                    <a:lnTo>
                      <a:pt x="0" y="29846"/>
                    </a:lnTo>
                    <a:cubicBezTo>
                      <a:pt x="0" y="13362"/>
                      <a:pt x="13362" y="0"/>
                      <a:pt x="29846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9050" cap="rnd">
                <a:gradFill>
                  <a:gsLst>
                    <a:gs pos="0">
                      <a:srgbClr val="5DE0E6">
                        <a:alpha val="100000"/>
                      </a:srgbClr>
                    </a:gs>
                    <a:gs pos="100000">
                      <a:srgbClr val="004AAD">
                        <a:alpha val="100000"/>
                      </a:srgbClr>
                    </a:gs>
                  </a:gsLst>
                  <a:lin ang="0"/>
                </a:gradFill>
                <a:prstDash val="solid"/>
                <a:round/>
              </a:ln>
            </p:spPr>
            <p:txBody>
              <a:bodyPr/>
              <a:p/>
            </p:txBody>
          </p:sp>
          <p:sp>
            <p:nvSpPr>
              <p:cNvPr id="14" name="TextBox 14"/>
              <p:cNvSpPr txBox="1"/>
              <p:nvPr/>
            </p:nvSpPr>
            <p:spPr>
              <a:xfrm>
                <a:off x="0" y="-19050"/>
                <a:ext cx="2703073" cy="227518"/>
              </a:xfrm>
              <a:prstGeom prst="rect">
                <a:avLst/>
              </a:prstGeom>
            </p:spPr>
            <p:txBody>
              <a:bodyPr lIns="158888" tIns="158888" rIns="158888" bIns="158888" rtlCol="0" anchor="ctr"/>
              <a:lstStyle/>
              <a:p>
                <a:pPr algn="just">
                  <a:lnSpc>
                    <a:spcPts val="982"/>
                  </a:lnSpc>
                </a:pPr>
                <a:endParaRPr/>
              </a:p>
            </p:txBody>
          </p:sp>
        </p:grpSp>
        <p:sp>
          <p:nvSpPr>
            <p:cNvPr id="15" name="Freeform 15"/>
            <p:cNvSpPr/>
            <p:nvPr/>
          </p:nvSpPr>
          <p:spPr>
            <a:xfrm>
              <a:off x="1273589" y="0"/>
              <a:ext cx="3225180" cy="1179721"/>
            </a:xfrm>
            <a:custGeom>
              <a:avLst/>
              <a:gdLst/>
              <a:ahLst/>
              <a:cxnLst/>
              <a:rect l="l" t="t" r="r" b="b"/>
              <a:pathLst>
                <a:path w="3225180" h="1179721">
                  <a:moveTo>
                    <a:pt x="0" y="0"/>
                  </a:moveTo>
                  <a:lnTo>
                    <a:pt x="3225180" y="0"/>
                  </a:lnTo>
                  <a:lnTo>
                    <a:pt x="3225180" y="1179721"/>
                  </a:lnTo>
                  <a:lnTo>
                    <a:pt x="0" y="117972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t="-1001" b="-1001"/>
              </a:stretch>
            </a:blipFill>
          </p:spPr>
          <p:txBody>
            <a:bodyPr/>
            <a:p/>
          </p:txBody>
        </p:sp>
        <p:sp>
          <p:nvSpPr>
            <p:cNvPr id="16" name="Freeform 16"/>
            <p:cNvSpPr/>
            <p:nvPr/>
          </p:nvSpPr>
          <p:spPr>
            <a:xfrm>
              <a:off x="5117010" y="194821"/>
              <a:ext cx="4314511" cy="838527"/>
            </a:xfrm>
            <a:custGeom>
              <a:avLst/>
              <a:gdLst/>
              <a:ahLst/>
              <a:cxnLst/>
              <a:rect l="l" t="t" r="r" b="b"/>
              <a:pathLst>
                <a:path w="4314511" h="838527">
                  <a:moveTo>
                    <a:pt x="0" y="0"/>
                  </a:moveTo>
                  <a:lnTo>
                    <a:pt x="4314511" y="0"/>
                  </a:lnTo>
                  <a:lnTo>
                    <a:pt x="4314511" y="838527"/>
                  </a:lnTo>
                  <a:lnTo>
                    <a:pt x="0" y="83852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t="-2002"/>
              </a:stretch>
            </a:blipFill>
            <a:ln cap="sq">
              <a:noFill/>
              <a:prstDash val="solid"/>
              <a:miter/>
            </a:ln>
          </p:spPr>
          <p:txBody>
            <a:bodyPr/>
            <a:p/>
          </p:txBody>
        </p:sp>
        <p:sp>
          <p:nvSpPr>
            <p:cNvPr id="17" name="Freeform 17"/>
            <p:cNvSpPr/>
            <p:nvPr/>
          </p:nvSpPr>
          <p:spPr>
            <a:xfrm>
              <a:off x="11047629" y="168317"/>
              <a:ext cx="2505724" cy="891536"/>
            </a:xfrm>
            <a:custGeom>
              <a:avLst/>
              <a:gdLst/>
              <a:ahLst/>
              <a:cxnLst/>
              <a:rect l="l" t="t" r="r" b="b"/>
              <a:pathLst>
                <a:path w="2505724" h="891536">
                  <a:moveTo>
                    <a:pt x="0" y="0"/>
                  </a:moveTo>
                  <a:lnTo>
                    <a:pt x="2505724" y="0"/>
                  </a:lnTo>
                  <a:lnTo>
                    <a:pt x="2505724" y="891535"/>
                  </a:lnTo>
                  <a:lnTo>
                    <a:pt x="0" y="89153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t="-1001" b="-1001"/>
              </a:stretch>
            </a:blipFill>
          </p:spPr>
          <p:txBody>
            <a:bodyPr/>
            <a:p/>
          </p:txBody>
        </p:sp>
      </p:grpSp>
      <p:grpSp>
        <p:nvGrpSpPr>
          <p:cNvPr id="18" name="Group 18"/>
          <p:cNvGrpSpPr/>
          <p:nvPr/>
        </p:nvGrpSpPr>
        <p:grpSpPr>
          <a:xfrm>
            <a:off x="384991" y="139597"/>
            <a:ext cx="1915887" cy="1249099"/>
            <a:chOff x="0" y="0"/>
            <a:chExt cx="2554516" cy="1665465"/>
          </a:xfrm>
        </p:grpSpPr>
        <p:sp>
          <p:nvSpPr>
            <p:cNvPr id="19" name="Freeform 19" descr="Your startup LOGO"/>
            <p:cNvSpPr/>
            <p:nvPr/>
          </p:nvSpPr>
          <p:spPr>
            <a:xfrm>
              <a:off x="0" y="0"/>
              <a:ext cx="2554478" cy="1665478"/>
            </a:xfrm>
            <a:custGeom>
              <a:avLst/>
              <a:gdLst/>
              <a:ahLst/>
              <a:cxnLst/>
              <a:rect l="l" t="t" r="r" b="b"/>
              <a:pathLst>
                <a:path w="2554478" h="1665478">
                  <a:moveTo>
                    <a:pt x="0" y="832739"/>
                  </a:moveTo>
                  <a:cubicBezTo>
                    <a:pt x="0" y="372872"/>
                    <a:pt x="571881" y="0"/>
                    <a:pt x="1277239" y="0"/>
                  </a:cubicBezTo>
                  <a:cubicBezTo>
                    <a:pt x="1982597" y="0"/>
                    <a:pt x="2554478" y="372872"/>
                    <a:pt x="2554478" y="832739"/>
                  </a:cubicBezTo>
                  <a:cubicBezTo>
                    <a:pt x="2554478" y="1292606"/>
                    <a:pt x="1982597" y="1665478"/>
                    <a:pt x="1277239" y="1665478"/>
                  </a:cubicBezTo>
                  <a:cubicBezTo>
                    <a:pt x="571881" y="1665478"/>
                    <a:pt x="0" y="1292606"/>
                    <a:pt x="0" y="832739"/>
                  </a:cubicBezTo>
                  <a:close/>
                </a:path>
              </a:pathLst>
            </a:custGeom>
            <a:solidFill>
              <a:srgbClr val="FFFFFF"/>
            </a:solidFill>
            <a:ln w="38100" cap="sq">
              <a:solidFill>
                <a:srgbClr val="8064A2"/>
              </a:solidFill>
              <a:prstDash val="solid"/>
              <a:miter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0" y="-57150"/>
              <a:ext cx="2554516" cy="172261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240"/>
                </a:lnSpc>
              </a:pPr>
              <a:r>
                <a:rPr lang="en-US" sz="2700">
                  <a:solidFill>
                    <a:srgbClr val="00000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BotS</a:t>
              </a:r>
            </a:p>
          </p:txBody>
        </p:sp>
      </p:grpSp>
      <p:sp>
        <p:nvSpPr>
          <p:cNvPr id="21" name="Freeform 21"/>
          <p:cNvSpPr/>
          <p:nvPr/>
        </p:nvSpPr>
        <p:spPr>
          <a:xfrm>
            <a:off x="15582684" y="0"/>
            <a:ext cx="2705316" cy="1715305"/>
          </a:xfrm>
          <a:custGeom>
            <a:avLst/>
            <a:gdLst/>
            <a:ahLst/>
            <a:cxnLst/>
            <a:rect l="l" t="t" r="r" b="b"/>
            <a:pathLst>
              <a:path w="2705316" h="1715305">
                <a:moveTo>
                  <a:pt x="0" y="0"/>
                </a:moveTo>
                <a:lnTo>
                  <a:pt x="2705316" y="0"/>
                </a:lnTo>
                <a:lnTo>
                  <a:pt x="2705316" y="1715305"/>
                </a:lnTo>
                <a:lnTo>
                  <a:pt x="0" y="1715305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r="-4909"/>
            </a:stretch>
          </a:blipFill>
        </p:spPr>
        <p:txBody>
          <a:bodyPr/>
          <a:p/>
        </p:txBody>
      </p:sp>
      <p:sp>
        <p:nvSpPr>
          <p:cNvPr id="576" name="Text 576"/>
          <p:cNvSpPr txBox="1"/>
          <p:nvPr/>
        </p:nvSpPr>
        <p:spPr>
          <a:xfrm>
            <a:off x="800000" y="6900000"/>
            <a:ext cx="16700000" cy="10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 dirty="0">
                <a:solidFill>
                  <a:srgbClr val="1F497D"/>
                </a:solidFill>
                <a:latin typeface="Arial"/>
                <a:cs typeface="Arial"/>
              </a:rPr>
              <a:t>Team BotS  |  Aditya Bajantri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344</Words>
  <Application>Microsoft Office PowerPoint</Application>
  <PresentationFormat>Custom</PresentationFormat>
  <Paragraphs>63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7" baseType="lpstr">
      <vt:lpstr>Times New Roman Bold</vt:lpstr>
      <vt:lpstr>Calibri</vt:lpstr>
      <vt:lpstr>Arial Bold</vt:lpstr>
      <vt:lpstr>Georgia Pro</vt:lpstr>
      <vt:lpstr>Calibri (MS)</vt:lpstr>
      <vt:lpstr>Tahoma</vt:lpstr>
      <vt:lpstr>Poppins Bold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AI MANTHAN ppt template.pptx</dc:title>
  <cp:lastModifiedBy>karanpratap singh sisodiya</cp:lastModifiedBy>
  <cp:revision>2</cp:revision>
  <dcterms:created xsi:type="dcterms:W3CDTF">2006-08-16T00:00:00Z</dcterms:created>
  <dcterms:modified xsi:type="dcterms:W3CDTF">2026-09-30T05:35:28Z</dcterms:modified>
  <dc:identifier>DAHWj71VrMc</dc:identifier>
</cp:coreProperties>
</file>